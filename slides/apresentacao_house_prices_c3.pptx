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9" r:id="rId12"/>
    <p:sldId id="267" r:id="rId13"/>
    <p:sldId id="268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FAF916-7DF5-44F7-B041-D31F93773F13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86C5D-8289-43D5-BEF5-015B367EF2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5664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Vitor abre com a pergunta central: quais características ajudam a explicar e prever o preço das casas?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6233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Explicar que a fala é dividida por etapa, mas a narrativa é única.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890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Fazer a ponte para a limpeza e preparação dos dados.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4856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Vitor: enfatizar que a análise começa entendendo distribuição, nulos, outliers e relações iniciais.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6443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Explicar que as novas features aproximam o dataset da lógica imobiliária.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0233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Luis Felipe: explicar que múltiplas variáveis capturam muito mais do que apenas área habitável.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71136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Emanuel: destacar que as classes ficaram balanceadas e os modelos performaram bem.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20731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Rogeres: ressaltar que PCA é visualização, não substitui a base completa.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1590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Alessandro: conectar Apriori e LOF com interpretação de padrões e anomalias.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21284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Natalia: reforçar que visualização é usada para guiar o leitor, não apenas ilustrar.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66419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AA723-A32B-82EA-ABF3-42B54D06A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59AA70-C9CD-25EA-DAC3-5DE62C4CE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EF80783-20D6-A56B-520E-682178AAE4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Natalia: explicar que esse slide responde diretamente ao feedback da avaliação: faltavam gráficos dos modelos no notebook 06.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1BF492-2EEF-7B04-A9AB-6672AEF09B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457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Fechamento: mencionar que a última rodada de ajustes mira exatamente os descontos da avaliação: visualização e storytelling.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2753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Backup: explicar PCA como visualização, SalePrice fora do treino dos clusters e importância do feature engineering.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586C5D-8289-43D5-BEF5-015B367EF2D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481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E84ED8-9D86-946D-C357-FC64D4C3E6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E5DF886-0762-5955-7D9E-9FC050E2D8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46E9AE8-A548-31B0-0969-09CA42851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FE2352-9C36-80FF-9D4A-24E1801F7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22839F0-C348-6309-476C-612DC1551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8712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90FD8F-CC5E-D948-979F-D7AB0460B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039817-EC1B-9CD3-9CC6-AA633579DE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979C0D-9204-B7FC-CFF3-82BBC46E3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B1282B-7D20-509D-72AF-ADF1404FC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C17D56-9541-665F-977D-901C17506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7507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E902C5-D081-A01B-2AAE-CB26225D9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BA66425-1213-4E58-46AA-E7FB91D1E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8DDB37-D9CC-6FD7-2FC6-750B9DF9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0997000-C236-7DCB-DD2C-D698BE4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1E9FA03-5246-9D96-5F43-3630327F5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9287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303B9B-6608-31DD-870B-83C25AAB5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C21603-3B37-B207-3965-503715B11A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F68862C-FBA8-5E8B-121C-A098180FB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93D396-93D5-27AE-CB28-47B725D7E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1793123-ACE7-5F17-B1A7-75E9AE4FD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100AD5-72E5-DB2E-C48D-B5A5118AA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54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876112-2702-865E-E62A-9AE19850B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1891F6A-F381-3BAA-2CE2-1A6AD8841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C6B67A7-B491-8F85-09B1-545670554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A996AA9-1086-BB78-8BB7-3F1FE2C60B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E593297-F125-2BA4-8745-BCEAAC428A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4D29276-0084-164C-A4EE-30FB1F73B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A72AAC4-63FD-A3AD-0C73-2828EE139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30CD597-60AB-86C3-8226-CF63D5B53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55111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575ACB-52A5-423F-8BB3-DF2EC9596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F410677-B4B9-F080-24E7-6E21048F0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A9ECE8A-E640-86C0-87CD-434C18766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9FD8E92-FFE9-16EA-2F59-39474E86E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558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A20BF20-F6E7-0DBB-E608-FD3A7D691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AB813F2-924D-771C-7139-758733426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22CFAC8-1D2A-5754-070D-82615926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751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7D0632-6C53-5EC5-D7DC-F88173E66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4C9202-4576-D5CB-1A3E-97CABE1B2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945C719-F053-A2D4-747E-AFDDC4B03B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8FFB6EC-1824-E892-B286-3EA6301AE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941B5A5-A8B2-CE08-9E4F-186B9B744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321FAE4-ECB4-3948-38C5-4D13F05BB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765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B60A3B-BB9D-CC24-8483-58AD1CF1A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365A430-066A-FAF2-C142-5A86A68C65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A42F790-8778-8613-D981-AF0EB9BD4D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125C3A9-B95D-BAE6-67DF-8D170126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04B85F5-603A-4834-2836-2CAA1092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8997FA-4714-2A98-151F-57EEE9A44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4196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3C635F-8FE5-6900-94C3-76DC1D38A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C8FADEB-CE0F-6BDA-CC7A-10FDFB6D7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7A5EFD-ED49-1E3D-BB49-ADB574739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365E0A9-8FF2-B19F-ADC2-E9AF18170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E7C3DAA-602F-F06F-6820-4EC3D1FB8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52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540E9C2-35A7-8B63-50E2-B50AA0E108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21C6C55-27E7-878D-62EF-3B655C8D2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811D382-6E18-9362-536F-EB5507C62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BC8AE64-8C0B-AC73-77E8-BF7F143CF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B39271-DF1B-9F88-A54E-1D29848CB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6046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F6ED92F-44F6-1616-0B03-5F4D6F944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0C40325-F41A-3C65-38F2-75C60FE99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E24413-6CDC-3A46-F1D1-EDE7C25F78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49896-4688-4C38-ACB0-A9EE9149AFE1}" type="datetimeFigureOut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47499E-A39B-CEB5-FC1E-C162F1D948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712D2E0-E284-1E01-9E3F-66A94A3E35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C8D46C-8D4F-4DC0-B08B-32377543F02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4743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CBE437C-60F5-EC3F-EFDA-FA95CCC79DFC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D4A126F-7BB6-6390-003B-25AD03D941A0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Aptos" panose="020B0004020202020204" pitchFamily="34" charset="0"/>
              </a:rPr>
              <a:t>House Prices: Data Analysis &amp; Machine Learning</a:t>
            </a:r>
            <a:endParaRPr lang="pt-BR" sz="24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16DF02D-2DA3-5CDB-DDFC-5455FAAF0740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10-15 min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D6023A8-FF38-597D-AD2B-3A2C4B41BC6A}"/>
              </a:ext>
            </a:extLst>
          </p:cNvPr>
          <p:cNvSpPr txBox="1"/>
          <p:nvPr/>
        </p:nvSpPr>
        <p:spPr>
          <a:xfrm>
            <a:off x="1016000" y="1549400"/>
            <a:ext cx="10160000" cy="85151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600" b="1">
                <a:solidFill>
                  <a:srgbClr val="162B3A"/>
                </a:solidFill>
                <a:latin typeface="Aptos" panose="020B0004020202020204" pitchFamily="34" charset="0"/>
              </a:rPr>
              <a:t>Análise de preços de casas nos EUA usando EDA, feature engineering, modelos supervisionados e não supervisionados.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416C9AD-9328-03D9-AE2A-462A1D3F8402}"/>
              </a:ext>
            </a:extLst>
          </p:cNvPr>
          <p:cNvSpPr/>
          <p:nvPr/>
        </p:nvSpPr>
        <p:spPr>
          <a:xfrm>
            <a:off x="1333500" y="3213715"/>
            <a:ext cx="2286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638C45A-CFBB-1177-7265-8F5A243D835E}"/>
              </a:ext>
            </a:extLst>
          </p:cNvPr>
          <p:cNvSpPr txBox="1"/>
          <p:nvPr/>
        </p:nvSpPr>
        <p:spPr>
          <a:xfrm>
            <a:off x="1460500" y="3416300"/>
            <a:ext cx="2032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268984"/>
                </a:solidFill>
                <a:latin typeface="Aptos" panose="020B0004020202020204" pitchFamily="34" charset="0"/>
              </a:rPr>
              <a:t>1458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B74B013-C7C3-A3FB-71A2-F6DB3819AFF6}"/>
              </a:ext>
            </a:extLst>
          </p:cNvPr>
          <p:cNvSpPr txBox="1"/>
          <p:nvPr/>
        </p:nvSpPr>
        <p:spPr>
          <a:xfrm>
            <a:off x="1460500" y="3924300"/>
            <a:ext cx="2032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registros após tratamento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F2D3D3C-77CE-0466-B21A-4CA0C76545C4}"/>
              </a:ext>
            </a:extLst>
          </p:cNvPr>
          <p:cNvSpPr/>
          <p:nvPr/>
        </p:nvSpPr>
        <p:spPr>
          <a:xfrm>
            <a:off x="3810000" y="3213715"/>
            <a:ext cx="2286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633D2C1-E9E9-D5FF-A2CD-6C7EF119E32F}"/>
              </a:ext>
            </a:extLst>
          </p:cNvPr>
          <p:cNvSpPr txBox="1"/>
          <p:nvPr/>
        </p:nvSpPr>
        <p:spPr>
          <a:xfrm>
            <a:off x="3937000" y="3416300"/>
            <a:ext cx="2032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E87E42"/>
                </a:solidFill>
                <a:latin typeface="Aptos" panose="020B0004020202020204" pitchFamily="34" charset="0"/>
              </a:rPr>
              <a:t>298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8B8BA93-89D0-097A-4CD9-DB2CFA3778C3}"/>
              </a:ext>
            </a:extLst>
          </p:cNvPr>
          <p:cNvSpPr txBox="1"/>
          <p:nvPr/>
        </p:nvSpPr>
        <p:spPr>
          <a:xfrm>
            <a:off x="3937000" y="3924300"/>
            <a:ext cx="2032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features processadas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AD14F07B-7BA0-219C-A32C-5D8B0780EFED}"/>
              </a:ext>
            </a:extLst>
          </p:cNvPr>
          <p:cNvSpPr/>
          <p:nvPr/>
        </p:nvSpPr>
        <p:spPr>
          <a:xfrm>
            <a:off x="6286500" y="3213715"/>
            <a:ext cx="2286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51F9764-6622-9E11-D2B4-EC0977FAF20B}"/>
              </a:ext>
            </a:extLst>
          </p:cNvPr>
          <p:cNvSpPr txBox="1"/>
          <p:nvPr/>
        </p:nvSpPr>
        <p:spPr>
          <a:xfrm>
            <a:off x="6413500" y="3416300"/>
            <a:ext cx="2032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589C66"/>
                </a:solidFill>
                <a:latin typeface="Aptos" panose="020B0004020202020204" pitchFamily="34" charset="0"/>
              </a:rPr>
              <a:t>0,817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5BFD44E-7B79-5DA8-975F-C1DADB15C733}"/>
              </a:ext>
            </a:extLst>
          </p:cNvPr>
          <p:cNvSpPr txBox="1"/>
          <p:nvPr/>
        </p:nvSpPr>
        <p:spPr>
          <a:xfrm>
            <a:off x="6413500" y="3924300"/>
            <a:ext cx="2032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R² regressão múltipla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E224564D-AA83-DFC4-22D0-3DEED849263B}"/>
              </a:ext>
            </a:extLst>
          </p:cNvPr>
          <p:cNvSpPr/>
          <p:nvPr/>
        </p:nvSpPr>
        <p:spPr>
          <a:xfrm>
            <a:off x="8763000" y="3213715"/>
            <a:ext cx="2286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58C0EDB-5185-422C-2878-C368BC7EE33D}"/>
              </a:ext>
            </a:extLst>
          </p:cNvPr>
          <p:cNvSpPr txBox="1"/>
          <p:nvPr/>
        </p:nvSpPr>
        <p:spPr>
          <a:xfrm>
            <a:off x="8890000" y="3416300"/>
            <a:ext cx="2032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268984"/>
                </a:solidFill>
                <a:latin typeface="Aptos" panose="020B0004020202020204" pitchFamily="34" charset="0"/>
              </a:rPr>
              <a:t>92,1%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C2B8998-5F64-7144-66EC-3C3A6748F866}"/>
              </a:ext>
            </a:extLst>
          </p:cNvPr>
          <p:cNvSpPr txBox="1"/>
          <p:nvPr/>
        </p:nvSpPr>
        <p:spPr>
          <a:xfrm>
            <a:off x="8890000" y="3924300"/>
            <a:ext cx="2032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acurácia classificação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E5B4DF0-BEB5-26EE-4647-EA1760FD7B6A}"/>
              </a:ext>
            </a:extLst>
          </p:cNvPr>
          <p:cNvSpPr txBox="1"/>
          <p:nvPr/>
        </p:nvSpPr>
        <p:spPr>
          <a:xfrm>
            <a:off x="1270000" y="5524500"/>
            <a:ext cx="9652000" cy="312906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700">
                <a:solidFill>
                  <a:srgbClr val="585F69"/>
                </a:solidFill>
                <a:latin typeface="Aptos" panose="020B0004020202020204" pitchFamily="34" charset="0"/>
              </a:rPr>
              <a:t>Grupo: Vitor, Luis Felipe, Emanuel, Rogeres, Alessandro e Natalia</a:t>
            </a:r>
          </a:p>
        </p:txBody>
      </p:sp>
    </p:spTree>
    <p:extLst>
      <p:ext uri="{BB962C8B-B14F-4D97-AF65-F5344CB8AC3E}">
        <p14:creationId xmlns:p14="http://schemas.microsoft.com/office/powerpoint/2010/main" val="691252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74FF5FFE-BA67-1227-5324-9A592F35E262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CDD47F0-7332-CC8C-F200-9705569AACC5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Divisão do Grupo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27C53FF-AEC2-C046-2165-959DF90B50E0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responsabilidades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892BC7C-AB37-68D2-8BCA-35D81E940759}"/>
              </a:ext>
            </a:extLst>
          </p:cNvPr>
          <p:cNvSpPr/>
          <p:nvPr/>
        </p:nvSpPr>
        <p:spPr>
          <a:xfrm>
            <a:off x="1016000" y="13335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53B93FB-901F-A2C5-C6AF-BB44750C1A20}"/>
              </a:ext>
            </a:extLst>
          </p:cNvPr>
          <p:cNvSpPr txBox="1"/>
          <p:nvPr/>
        </p:nvSpPr>
        <p:spPr>
          <a:xfrm>
            <a:off x="1168400" y="14351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Vitor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11AFED7-51B2-2B41-5B2E-ED1605A9D4B1}"/>
              </a:ext>
            </a:extLst>
          </p:cNvPr>
          <p:cNvSpPr txBox="1"/>
          <p:nvPr/>
        </p:nvSpPr>
        <p:spPr>
          <a:xfrm>
            <a:off x="3429000" y="14097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EDA, Feature Engineering, integração e organização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7E03430-43AB-7595-4CC5-523B12A45E15}"/>
              </a:ext>
            </a:extLst>
          </p:cNvPr>
          <p:cNvSpPr/>
          <p:nvPr/>
        </p:nvSpPr>
        <p:spPr>
          <a:xfrm>
            <a:off x="1016000" y="20701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3661205-383D-9162-B447-1631FBEE876A}"/>
              </a:ext>
            </a:extLst>
          </p:cNvPr>
          <p:cNvSpPr txBox="1"/>
          <p:nvPr/>
        </p:nvSpPr>
        <p:spPr>
          <a:xfrm>
            <a:off x="1168400" y="21717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Luis Felipe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8ABEAA0-F79C-C69C-0672-10B388786688}"/>
              </a:ext>
            </a:extLst>
          </p:cNvPr>
          <p:cNvSpPr txBox="1"/>
          <p:nvPr/>
        </p:nvSpPr>
        <p:spPr>
          <a:xfrm>
            <a:off x="3429000" y="21463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Regressão linear simples e múltipla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254678ED-0346-D7BA-2614-8FB510D20D4A}"/>
              </a:ext>
            </a:extLst>
          </p:cNvPr>
          <p:cNvSpPr/>
          <p:nvPr/>
        </p:nvSpPr>
        <p:spPr>
          <a:xfrm>
            <a:off x="1016000" y="28067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C51AC7A-BA51-AF09-38FB-CB0E0896FCA4}"/>
              </a:ext>
            </a:extLst>
          </p:cNvPr>
          <p:cNvSpPr txBox="1"/>
          <p:nvPr/>
        </p:nvSpPr>
        <p:spPr>
          <a:xfrm>
            <a:off x="1168400" y="29083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Emanuel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6C133E5-C59F-2826-EC65-57FCB702B159}"/>
              </a:ext>
            </a:extLst>
          </p:cNvPr>
          <p:cNvSpPr txBox="1"/>
          <p:nvPr/>
        </p:nvSpPr>
        <p:spPr>
          <a:xfrm>
            <a:off x="3429000" y="28829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Classificação: Regressão Logística e Random Forest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F91D7A6-4516-4A42-EF7C-E2709D1935EF}"/>
              </a:ext>
            </a:extLst>
          </p:cNvPr>
          <p:cNvSpPr/>
          <p:nvPr/>
        </p:nvSpPr>
        <p:spPr>
          <a:xfrm>
            <a:off x="1016000" y="35433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67A75DB-F50B-B61D-12CF-B84272F05469}"/>
              </a:ext>
            </a:extLst>
          </p:cNvPr>
          <p:cNvSpPr txBox="1"/>
          <p:nvPr/>
        </p:nvSpPr>
        <p:spPr>
          <a:xfrm>
            <a:off x="1168400" y="36449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Rogeres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3BE06CC-EB85-A553-3455-124DA2CC2605}"/>
              </a:ext>
            </a:extLst>
          </p:cNvPr>
          <p:cNvSpPr txBox="1"/>
          <p:nvPr/>
        </p:nvSpPr>
        <p:spPr>
          <a:xfrm>
            <a:off x="3429000" y="36195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Clusterização, PCA e t-SNE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CD5CE30F-E7B7-EF55-C610-ADFADE16269B}"/>
              </a:ext>
            </a:extLst>
          </p:cNvPr>
          <p:cNvSpPr/>
          <p:nvPr/>
        </p:nvSpPr>
        <p:spPr>
          <a:xfrm>
            <a:off x="1016000" y="42799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C5B7361E-B93F-1E9C-4E69-2BCA279E8C53}"/>
              </a:ext>
            </a:extLst>
          </p:cNvPr>
          <p:cNvSpPr txBox="1"/>
          <p:nvPr/>
        </p:nvSpPr>
        <p:spPr>
          <a:xfrm>
            <a:off x="1168400" y="43815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Alessandro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930AE66-7A07-BED9-4857-BDE40D679F06}"/>
              </a:ext>
            </a:extLst>
          </p:cNvPr>
          <p:cNvSpPr txBox="1"/>
          <p:nvPr/>
        </p:nvSpPr>
        <p:spPr>
          <a:xfrm>
            <a:off x="3429000" y="43561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Apriori e Local Outlier Factor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792CBA3A-8426-E6A8-5683-573922139C8B}"/>
              </a:ext>
            </a:extLst>
          </p:cNvPr>
          <p:cNvSpPr/>
          <p:nvPr/>
        </p:nvSpPr>
        <p:spPr>
          <a:xfrm>
            <a:off x="1016000" y="5016500"/>
            <a:ext cx="2032000" cy="5334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F7DB433-4DFD-3317-EDA9-FD61F7B9353D}"/>
              </a:ext>
            </a:extLst>
          </p:cNvPr>
          <p:cNvSpPr txBox="1"/>
          <p:nvPr/>
        </p:nvSpPr>
        <p:spPr>
          <a:xfrm>
            <a:off x="1168400" y="5118100"/>
            <a:ext cx="17272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b="1">
                <a:solidFill>
                  <a:srgbClr val="162B3A"/>
                </a:solidFill>
                <a:latin typeface="Aptos" panose="020B0004020202020204" pitchFamily="34" charset="0"/>
              </a:rPr>
              <a:t>Natalia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E645A50F-5D43-C11F-AB61-C64092194F93}"/>
              </a:ext>
            </a:extLst>
          </p:cNvPr>
          <p:cNvSpPr txBox="1"/>
          <p:nvPr/>
        </p:nvSpPr>
        <p:spPr>
          <a:xfrm>
            <a:off x="3429000" y="5092700"/>
            <a:ext cx="7620000" cy="32829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>
                <a:solidFill>
                  <a:srgbClr val="1E2227"/>
                </a:solidFill>
                <a:latin typeface="Aptos" panose="020B0004020202020204" pitchFamily="34" charset="0"/>
              </a:rPr>
              <a:t>Visualização de dados e storytelling</a:t>
            </a:r>
          </a:p>
        </p:txBody>
      </p:sp>
    </p:spTree>
    <p:extLst>
      <p:ext uri="{BB962C8B-B14F-4D97-AF65-F5344CB8AC3E}">
        <p14:creationId xmlns:p14="http://schemas.microsoft.com/office/powerpoint/2010/main" val="3709684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6E43B046-2F93-E047-7278-519AB167B128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E52B864-F1EB-CF29-5F18-CFC75F7EB57A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Fluxo Analítico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9DCA1C4-2C2C-7E3C-09D0-9C665A3A5954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do dado bruto à conclusão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FDC7BCE-360A-58E4-D139-D5F9FF95D2E6}"/>
              </a:ext>
            </a:extLst>
          </p:cNvPr>
          <p:cNvSpPr/>
          <p:nvPr/>
        </p:nvSpPr>
        <p:spPr>
          <a:xfrm>
            <a:off x="6985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4CBEAD7-FC41-1F9B-3D65-3C24166C5489}"/>
              </a:ext>
            </a:extLst>
          </p:cNvPr>
          <p:cNvSpPr txBox="1"/>
          <p:nvPr/>
        </p:nvSpPr>
        <p:spPr>
          <a:xfrm>
            <a:off x="12065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268984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5E7B29D-61C3-80B1-BACC-2DFD81F60C23}"/>
              </a:ext>
            </a:extLst>
          </p:cNvPr>
          <p:cNvSpPr txBox="1"/>
          <p:nvPr/>
        </p:nvSpPr>
        <p:spPr>
          <a:xfrm>
            <a:off x="850900" y="2794000"/>
            <a:ext cx="1346200" cy="26674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400" b="1" dirty="0">
                <a:solidFill>
                  <a:srgbClr val="162B3A"/>
                </a:solidFill>
                <a:latin typeface="Aptos" panose="020B0004020202020204" pitchFamily="34" charset="0"/>
              </a:rPr>
              <a:t>EDA e limpeza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724B5F3-C4B4-A92F-E56D-55FCD284CAD5}"/>
              </a:ext>
            </a:extLst>
          </p:cNvPr>
          <p:cNvSpPr/>
          <p:nvPr/>
        </p:nvSpPr>
        <p:spPr>
          <a:xfrm>
            <a:off x="25781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150942A-C0E1-F722-0CD9-151363F73FFD}"/>
              </a:ext>
            </a:extLst>
          </p:cNvPr>
          <p:cNvSpPr txBox="1"/>
          <p:nvPr/>
        </p:nvSpPr>
        <p:spPr>
          <a:xfrm>
            <a:off x="30861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E87E42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0FD4902-7D1E-CD9E-68F2-FC8C6175EEF6}"/>
              </a:ext>
            </a:extLst>
          </p:cNvPr>
          <p:cNvSpPr txBox="1"/>
          <p:nvPr/>
        </p:nvSpPr>
        <p:spPr>
          <a:xfrm>
            <a:off x="2730500" y="2794000"/>
            <a:ext cx="1346200" cy="482183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400" b="1" dirty="0">
                <a:solidFill>
                  <a:srgbClr val="162B3A"/>
                </a:solidFill>
                <a:latin typeface="Aptos" panose="020B0004020202020204" pitchFamily="34" charset="0"/>
              </a:rPr>
              <a:t>Feature </a:t>
            </a:r>
            <a:r>
              <a:rPr lang="pt-BR" sz="1400" b="1" dirty="0" err="1">
                <a:solidFill>
                  <a:srgbClr val="162B3A"/>
                </a:solidFill>
                <a:latin typeface="Aptos" panose="020B0004020202020204" pitchFamily="34" charset="0"/>
              </a:rPr>
              <a:t>engineering</a:t>
            </a:r>
            <a:endParaRPr lang="pt-BR" sz="1400" b="1" dirty="0">
              <a:solidFill>
                <a:srgbClr val="162B3A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179C70F-490E-4AC8-8CE4-35588BE6A89E}"/>
              </a:ext>
            </a:extLst>
          </p:cNvPr>
          <p:cNvSpPr/>
          <p:nvPr/>
        </p:nvSpPr>
        <p:spPr>
          <a:xfrm>
            <a:off x="44577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528167A-E296-B93B-CD92-0CD6397E3C88}"/>
              </a:ext>
            </a:extLst>
          </p:cNvPr>
          <p:cNvSpPr txBox="1"/>
          <p:nvPr/>
        </p:nvSpPr>
        <p:spPr>
          <a:xfrm>
            <a:off x="49657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589C66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AE5BCC0-00D4-6E27-411A-9B44F771ED19}"/>
              </a:ext>
            </a:extLst>
          </p:cNvPr>
          <p:cNvSpPr txBox="1"/>
          <p:nvPr/>
        </p:nvSpPr>
        <p:spPr>
          <a:xfrm>
            <a:off x="4610100" y="2794000"/>
            <a:ext cx="1346200" cy="26674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400" b="1" dirty="0">
                <a:solidFill>
                  <a:srgbClr val="162B3A"/>
                </a:solidFill>
                <a:latin typeface="Aptos" panose="020B0004020202020204" pitchFamily="34" charset="0"/>
              </a:rPr>
              <a:t>Regressão</a:t>
            </a:r>
            <a:endParaRPr lang="pt-BR" sz="1600" b="1" dirty="0">
              <a:solidFill>
                <a:srgbClr val="162B3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5E022083-7F7B-6C95-36C0-A708671ABEB0}"/>
              </a:ext>
            </a:extLst>
          </p:cNvPr>
          <p:cNvSpPr/>
          <p:nvPr/>
        </p:nvSpPr>
        <p:spPr>
          <a:xfrm>
            <a:off x="63373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041DD05-9028-85A3-CF90-FCC76B3661C8}"/>
              </a:ext>
            </a:extLst>
          </p:cNvPr>
          <p:cNvSpPr txBox="1"/>
          <p:nvPr/>
        </p:nvSpPr>
        <p:spPr>
          <a:xfrm>
            <a:off x="68453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268984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3CC91E6-9848-A979-96CE-E7790CF58B68}"/>
              </a:ext>
            </a:extLst>
          </p:cNvPr>
          <p:cNvSpPr txBox="1"/>
          <p:nvPr/>
        </p:nvSpPr>
        <p:spPr>
          <a:xfrm>
            <a:off x="6489700" y="2794000"/>
            <a:ext cx="1346200" cy="26674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400" b="1" dirty="0">
                <a:solidFill>
                  <a:srgbClr val="162B3A"/>
                </a:solidFill>
                <a:latin typeface="Aptos" panose="020B0004020202020204" pitchFamily="34" charset="0"/>
              </a:rPr>
              <a:t>Classificação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972D5BE-CBF2-408B-ACF5-12A6B9119AA9}"/>
              </a:ext>
            </a:extLst>
          </p:cNvPr>
          <p:cNvSpPr/>
          <p:nvPr/>
        </p:nvSpPr>
        <p:spPr>
          <a:xfrm>
            <a:off x="82169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7EFE1B43-A88D-C7BC-86E9-1E3BB0D48D0E}"/>
              </a:ext>
            </a:extLst>
          </p:cNvPr>
          <p:cNvSpPr txBox="1"/>
          <p:nvPr/>
        </p:nvSpPr>
        <p:spPr>
          <a:xfrm>
            <a:off x="87249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E87E42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2C4AC61-0C08-36FA-554F-9D936BEA46BE}"/>
              </a:ext>
            </a:extLst>
          </p:cNvPr>
          <p:cNvSpPr txBox="1"/>
          <p:nvPr/>
        </p:nvSpPr>
        <p:spPr>
          <a:xfrm>
            <a:off x="8369300" y="2794000"/>
            <a:ext cx="1346200" cy="26674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400" b="1" dirty="0">
                <a:solidFill>
                  <a:srgbClr val="162B3A"/>
                </a:solidFill>
                <a:latin typeface="Aptos" panose="020B0004020202020204" pitchFamily="34" charset="0"/>
              </a:rPr>
              <a:t>Clusterização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15A56A8-D75B-8D14-61A9-04279E1DA141}"/>
              </a:ext>
            </a:extLst>
          </p:cNvPr>
          <p:cNvSpPr/>
          <p:nvPr/>
        </p:nvSpPr>
        <p:spPr>
          <a:xfrm>
            <a:off x="10096500" y="1905000"/>
            <a:ext cx="1651000" cy="16510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9739C04-5753-E89C-D088-81CCE5863AD7}"/>
              </a:ext>
            </a:extLst>
          </p:cNvPr>
          <p:cNvSpPr txBox="1"/>
          <p:nvPr/>
        </p:nvSpPr>
        <p:spPr>
          <a:xfrm>
            <a:off x="10604500" y="2159000"/>
            <a:ext cx="635000" cy="512961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3000" b="1">
                <a:solidFill>
                  <a:srgbClr val="589C66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B13426A-F2FD-BA4C-AC57-94BFA40E081B}"/>
              </a:ext>
            </a:extLst>
          </p:cNvPr>
          <p:cNvSpPr txBox="1"/>
          <p:nvPr/>
        </p:nvSpPr>
        <p:spPr>
          <a:xfrm>
            <a:off x="10248900" y="2794000"/>
            <a:ext cx="1346200" cy="69762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400" b="1" dirty="0">
                <a:solidFill>
                  <a:srgbClr val="162B3A"/>
                </a:solidFill>
                <a:latin typeface="Aptos" panose="020B0004020202020204" pitchFamily="34" charset="0"/>
              </a:rPr>
              <a:t>Associação, outliers e </a:t>
            </a:r>
            <a:r>
              <a:rPr lang="pt-BR" sz="1400" b="1" dirty="0" err="1">
                <a:solidFill>
                  <a:srgbClr val="162B3A"/>
                </a:solidFill>
                <a:latin typeface="Aptos" panose="020B0004020202020204" pitchFamily="34" charset="0"/>
              </a:rPr>
              <a:t>storytelling</a:t>
            </a:r>
            <a:endParaRPr lang="pt-BR" sz="1400" b="1" dirty="0">
              <a:solidFill>
                <a:srgbClr val="162B3A"/>
              </a:solidFill>
              <a:latin typeface="Aptos" panose="020B0004020202020204" pitchFamily="34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15862E5A-F66F-9DF9-94DA-31212F62C4CF}"/>
              </a:ext>
            </a:extLst>
          </p:cNvPr>
          <p:cNvSpPr txBox="1"/>
          <p:nvPr/>
        </p:nvSpPr>
        <p:spPr>
          <a:xfrm>
            <a:off x="1143000" y="4572000"/>
            <a:ext cx="9906000" cy="789960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400" b="1">
                <a:solidFill>
                  <a:srgbClr val="162B3A"/>
                </a:solidFill>
                <a:latin typeface="Aptos" panose="020B0004020202020204" pitchFamily="34" charset="0"/>
              </a:rPr>
              <a:t>Pergunta-guia: quais fatores estruturais e qualitativos explicam ou predizem o preço de venda?</a:t>
            </a:r>
          </a:p>
        </p:txBody>
      </p:sp>
    </p:spTree>
    <p:extLst>
      <p:ext uri="{BB962C8B-B14F-4D97-AF65-F5344CB8AC3E}">
        <p14:creationId xmlns:p14="http://schemas.microsoft.com/office/powerpoint/2010/main" val="2313098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8B1E5C4-B91A-7AA2-CA78-F6A0C2C571F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309AF8B-5A0C-0621-B7C1-2F3BBE1CD888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EDA e Preparação dos Dados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3421E7C-C491-584F-F0C4-BB348CE68ED4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Vitor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4240BF5-156D-74F8-6E3B-713E4E32D3BE}"/>
              </a:ext>
            </a:extLst>
          </p:cNvPr>
          <p:cNvSpPr txBox="1"/>
          <p:nvPr/>
        </p:nvSpPr>
        <p:spPr>
          <a:xfrm>
            <a:off x="736600" y="1206500"/>
            <a:ext cx="4953000" cy="2457083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Base original: 1460 linhas e 81 variáveis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Alvo do problema: SalePrice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Tratamento de nulos por mediana/moda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Remoção de outliers em GrLivArea x SalePrice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Normalização de numéricas e One-Hot Encoding de categóricas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CF02E91-60B2-7EAA-CB16-93D4612FF2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994" y="1104644"/>
            <a:ext cx="5940406" cy="2475169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2A5EA920-1D3B-FFF9-A65B-4397CE6FC0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766733"/>
            <a:ext cx="5801534" cy="2900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240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D59AD9A-6412-DF7D-6CB2-96FE1A1E1A92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3B74336-447E-A6B1-50B0-FA002DA722F1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Feature Engineering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C8B61-5049-5F3C-F789-D85E114F6CC4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Vitor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9F84C69-1BA9-2FBB-3194-0F529E6A69D1}"/>
              </a:ext>
            </a:extLst>
          </p:cNvPr>
          <p:cNvSpPr txBox="1"/>
          <p:nvPr/>
        </p:nvSpPr>
        <p:spPr>
          <a:xfrm>
            <a:off x="787400" y="1270000"/>
            <a:ext cx="5461000" cy="3334246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TotalSF: área total combinando porão e pavimentos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TotalBathrooms: banheiros completos e lavabos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HouseAge e YearsSinceRemodel: idade e atualização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HasGarage, HasBasement, HasFireplace e HasPool: atributos estruturais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Base processada final: 1458 linhas x 298 colunas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3C3930-4055-0DA6-04AE-0AF12567DD3E}"/>
              </a:ext>
            </a:extLst>
          </p:cNvPr>
          <p:cNvSpPr/>
          <p:nvPr/>
        </p:nvSpPr>
        <p:spPr>
          <a:xfrm>
            <a:off x="6794500" y="1460499"/>
            <a:ext cx="3937000" cy="3467441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E01099E-4456-2D6F-4E14-4507BA66B4EC}"/>
              </a:ext>
            </a:extLst>
          </p:cNvPr>
          <p:cNvSpPr txBox="1"/>
          <p:nvPr/>
        </p:nvSpPr>
        <p:spPr>
          <a:xfrm>
            <a:off x="7239000" y="1841500"/>
            <a:ext cx="3175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400" b="1" dirty="0">
                <a:solidFill>
                  <a:srgbClr val="162B3A"/>
                </a:solidFill>
                <a:latin typeface="Aptos" panose="020B0004020202020204" pitchFamily="34" charset="0"/>
              </a:rPr>
              <a:t>Features criadas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031DF16-8B8C-98D8-2C17-84404222E5D2}"/>
              </a:ext>
            </a:extLst>
          </p:cNvPr>
          <p:cNvSpPr txBox="1"/>
          <p:nvPr/>
        </p:nvSpPr>
        <p:spPr>
          <a:xfrm>
            <a:off x="7302500" y="2603500"/>
            <a:ext cx="3048000" cy="193899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000">
                <a:solidFill>
                  <a:srgbClr val="1E2227"/>
                </a:solidFill>
                <a:latin typeface="Aptos" panose="020B0004020202020204" pitchFamily="34" charset="0"/>
              </a:rPr>
              <a:t>As novas variáveis condensam sinais imobiliários: tamanho, conforto, idade, conservação e estruturas valorizadas.</a:t>
            </a:r>
          </a:p>
        </p:txBody>
      </p:sp>
    </p:spTree>
    <p:extLst>
      <p:ext uri="{BB962C8B-B14F-4D97-AF65-F5344CB8AC3E}">
        <p14:creationId xmlns:p14="http://schemas.microsoft.com/office/powerpoint/2010/main" val="2928571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F8D6E77A-4332-7C9C-E565-5BE9CABDF445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D47FA75-E55F-D494-FCEB-0B2897D64D60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Regressão: Prever o Preço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6AFA3D9-0E3A-2979-9BD4-58743D42E8A7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Luis Felipe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B9E5A1B-120C-F276-A26C-CAB588B17B9E}"/>
              </a:ext>
            </a:extLst>
          </p:cNvPr>
          <p:cNvSpPr/>
          <p:nvPr/>
        </p:nvSpPr>
        <p:spPr>
          <a:xfrm>
            <a:off x="762000" y="1270000"/>
            <a:ext cx="2159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1C35190-9D6F-99D8-A37A-85CBA2E87D38}"/>
              </a:ext>
            </a:extLst>
          </p:cNvPr>
          <p:cNvSpPr txBox="1"/>
          <p:nvPr/>
        </p:nvSpPr>
        <p:spPr>
          <a:xfrm>
            <a:off x="889000" y="1384300"/>
            <a:ext cx="1905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E87E42"/>
                </a:solidFill>
                <a:latin typeface="Aptos" panose="020B0004020202020204" pitchFamily="34" charset="0"/>
              </a:rPr>
              <a:t>0,492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3561F24-EFB1-CA2F-C882-6CF1BBC8A6D1}"/>
              </a:ext>
            </a:extLst>
          </p:cNvPr>
          <p:cNvSpPr txBox="1"/>
          <p:nvPr/>
        </p:nvSpPr>
        <p:spPr>
          <a:xfrm>
            <a:off x="889000" y="1892300"/>
            <a:ext cx="1905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R² regressão simples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41F216F-121A-9FD8-CEB1-8CA7C06BB9DD}"/>
              </a:ext>
            </a:extLst>
          </p:cNvPr>
          <p:cNvSpPr/>
          <p:nvPr/>
        </p:nvSpPr>
        <p:spPr>
          <a:xfrm>
            <a:off x="3175000" y="1270000"/>
            <a:ext cx="2159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42E93ED-8E10-A708-3A1D-8CF6C13FF8CA}"/>
              </a:ext>
            </a:extLst>
          </p:cNvPr>
          <p:cNvSpPr txBox="1"/>
          <p:nvPr/>
        </p:nvSpPr>
        <p:spPr>
          <a:xfrm>
            <a:off x="3302000" y="1384300"/>
            <a:ext cx="1905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589C66"/>
                </a:solidFill>
                <a:latin typeface="Aptos" panose="020B0004020202020204" pitchFamily="34" charset="0"/>
              </a:rPr>
              <a:t>0,817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B135920-C4FB-9B47-2AFB-1093B1354332}"/>
              </a:ext>
            </a:extLst>
          </p:cNvPr>
          <p:cNvSpPr txBox="1"/>
          <p:nvPr/>
        </p:nvSpPr>
        <p:spPr>
          <a:xfrm>
            <a:off x="3302000" y="1892300"/>
            <a:ext cx="1905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R² regressão múltipla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556EB7A-D80E-D30D-18CA-AAB05856BA80}"/>
              </a:ext>
            </a:extLst>
          </p:cNvPr>
          <p:cNvSpPr txBox="1"/>
          <p:nvPr/>
        </p:nvSpPr>
        <p:spPr>
          <a:xfrm>
            <a:off x="762000" y="2921000"/>
            <a:ext cx="4165941" cy="225959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Modelo simples: </a:t>
            </a: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GrLivArea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-&gt; </a:t>
            </a: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SalePrice</a:t>
            </a:r>
            <a:endParaRPr lang="pt-BR" dirty="0">
              <a:solidFill>
                <a:srgbClr val="1E2227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Modelo múltiplo: top 10 features por correlação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TotalSF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e </a:t>
            </a: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TotalBathrooms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aparecem entre os principais preditores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Métricas: MAE, RMSE e R²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28B5F3D0-D46C-2E77-7CF5-DCE0DAB226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000" y="1044295"/>
            <a:ext cx="6394925" cy="2259594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F942006B-F15D-9255-A619-C94EB96F3C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792" y="3646790"/>
            <a:ext cx="7329758" cy="3138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234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5F1BC9D-DE24-A4B9-E7BD-1477337BD87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123EF5F-2C72-F644-29C2-E2BFB1652546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Classificação: Casa Cara ou Barata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D1651D7-3630-3615-13B6-185BBA89893A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Emanuel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60366E2-3442-6394-5529-98686F9E7A8A}"/>
              </a:ext>
            </a:extLst>
          </p:cNvPr>
          <p:cNvSpPr txBox="1"/>
          <p:nvPr/>
        </p:nvSpPr>
        <p:spPr>
          <a:xfrm>
            <a:off x="762000" y="1206500"/>
            <a:ext cx="4953000" cy="265970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SalePrice convertido em classe binária pela mediana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0 = abaixo da mediana; 1 = acima da mediana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Modelos: Regressão Logística e Random Forest</a:t>
            </a:r>
          </a:p>
          <a:p>
            <a:pPr marL="457200" indent="-457200">
              <a:spcAft>
                <a:spcPts val="700"/>
              </a:spcAft>
              <a:buFont typeface="+mj-lt"/>
              <a:buChar char="•"/>
            </a:pPr>
            <a:r>
              <a:rPr lang="pt-BR" sz="1900">
                <a:solidFill>
                  <a:srgbClr val="1E2227"/>
                </a:solidFill>
                <a:latin typeface="Aptos" panose="020B0004020202020204" pitchFamily="34" charset="0"/>
              </a:rPr>
              <a:t>Métricas: Accuracy, Precision, Recall, F1 e matriz de confusão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0A0C32E-762F-9D8B-A72C-5B63585799D5}"/>
              </a:ext>
            </a:extLst>
          </p:cNvPr>
          <p:cNvSpPr/>
          <p:nvPr/>
        </p:nvSpPr>
        <p:spPr>
          <a:xfrm>
            <a:off x="889000" y="4381500"/>
            <a:ext cx="22225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7A1C645-D86F-DCB4-83CF-E2F7D9B6640E}"/>
              </a:ext>
            </a:extLst>
          </p:cNvPr>
          <p:cNvSpPr txBox="1"/>
          <p:nvPr/>
        </p:nvSpPr>
        <p:spPr>
          <a:xfrm>
            <a:off x="1016000" y="4495800"/>
            <a:ext cx="19685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268984"/>
                </a:solidFill>
                <a:latin typeface="Aptos" panose="020B0004020202020204" pitchFamily="34" charset="0"/>
              </a:rPr>
              <a:t>92,1%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2D71B04-DB11-3AD5-27DD-92069D631E9D}"/>
              </a:ext>
            </a:extLst>
          </p:cNvPr>
          <p:cNvSpPr txBox="1"/>
          <p:nvPr/>
        </p:nvSpPr>
        <p:spPr>
          <a:xfrm>
            <a:off x="1016000" y="5003800"/>
            <a:ext cx="19685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Accuracy Reg. Logística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7C92D4-E522-658B-04F8-0B6669863214}"/>
              </a:ext>
            </a:extLst>
          </p:cNvPr>
          <p:cNvSpPr/>
          <p:nvPr/>
        </p:nvSpPr>
        <p:spPr>
          <a:xfrm>
            <a:off x="3429000" y="4381500"/>
            <a:ext cx="22225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AFD468E-20B5-F1EB-BD11-C86116A1EE14}"/>
              </a:ext>
            </a:extLst>
          </p:cNvPr>
          <p:cNvSpPr txBox="1"/>
          <p:nvPr/>
        </p:nvSpPr>
        <p:spPr>
          <a:xfrm>
            <a:off x="3556000" y="4495800"/>
            <a:ext cx="19685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589C66"/>
                </a:solidFill>
                <a:latin typeface="Aptos" panose="020B0004020202020204" pitchFamily="34" charset="0"/>
              </a:rPr>
              <a:t>0,922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9527D2E-CE83-ECE8-9D6A-497A4754830F}"/>
              </a:ext>
            </a:extLst>
          </p:cNvPr>
          <p:cNvSpPr txBox="1"/>
          <p:nvPr/>
        </p:nvSpPr>
        <p:spPr>
          <a:xfrm>
            <a:off x="3556000" y="5003800"/>
            <a:ext cx="19685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F1 Reg. Logística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76106AE4-DDD9-78A9-F0EC-767417E00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085" y="1206500"/>
            <a:ext cx="5721848" cy="2328734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6ECCED9C-9422-85ED-D78F-381E3C0318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9598" y="3976719"/>
            <a:ext cx="5609896" cy="2436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176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9503240-B81A-59E8-9BFF-5EF911C35A23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BF21CD9-D268-394F-C748-AFC1B7A5E69E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Clusterização e Redução de Dimensionalidade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576876E-2B55-4D5E-FAF5-E188623617A1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Rogeres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E01CAC-1E17-EE77-515D-81A9A13E0452}"/>
              </a:ext>
            </a:extLst>
          </p:cNvPr>
          <p:cNvSpPr txBox="1"/>
          <p:nvPr/>
        </p:nvSpPr>
        <p:spPr>
          <a:xfrm>
            <a:off x="634999" y="1168400"/>
            <a:ext cx="5084603" cy="13388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K-</a:t>
            </a: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Means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para perfis de imóveis sem usar preço no treino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Elbow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</a:t>
            </a: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Method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apoiou a escolha de k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PCA e t-SNE para visualização em 2D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B3A50C3-5087-571C-2ABD-4B3A5D3291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99" y="3047776"/>
            <a:ext cx="10922000" cy="313456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EB414AAA-E5F4-009F-F888-A1429B146186}"/>
              </a:ext>
            </a:extLst>
          </p:cNvPr>
          <p:cNvSpPr txBox="1"/>
          <p:nvPr/>
        </p:nvSpPr>
        <p:spPr>
          <a:xfrm>
            <a:off x="6247376" y="1168400"/>
            <a:ext cx="5309623" cy="1290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PCA explicou 29,5% da variância nas duas primeiras componentes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Silhouette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Score: 0,1520, positivo mas com sobreposição natural</a:t>
            </a:r>
          </a:p>
        </p:txBody>
      </p:sp>
    </p:spTree>
    <p:extLst>
      <p:ext uri="{BB962C8B-B14F-4D97-AF65-F5344CB8AC3E}">
        <p14:creationId xmlns:p14="http://schemas.microsoft.com/office/powerpoint/2010/main" val="360558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00B01BE-0E54-E6F4-E632-F821F428F06B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B357B2F-978B-8E20-53A1-9E18B638C534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Associação e Outliers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413760F-5764-E507-511A-7664010C8C53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Alessandro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4D43B73-3EC5-B513-3ABC-F904D4CE857F}"/>
              </a:ext>
            </a:extLst>
          </p:cNvPr>
          <p:cNvSpPr txBox="1"/>
          <p:nvPr/>
        </p:nvSpPr>
        <p:spPr>
          <a:xfrm>
            <a:off x="698500" y="1168400"/>
            <a:ext cx="5016500" cy="161582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Apriori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exigiu </a:t>
            </a: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binarização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em </a:t>
            </a: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tags</a:t>
            </a: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 interpretáveis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Regras avaliadas por suporte, confiança e </a:t>
            </a:r>
            <a:r>
              <a:rPr lang="pt-BR" dirty="0" err="1">
                <a:solidFill>
                  <a:srgbClr val="1E2227"/>
                </a:solidFill>
                <a:latin typeface="Aptos" panose="020B0004020202020204" pitchFamily="34" charset="0"/>
              </a:rPr>
              <a:t>lift</a:t>
            </a:r>
            <a:endParaRPr lang="pt-BR" dirty="0">
              <a:solidFill>
                <a:srgbClr val="1E2227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Associações fortes envolvem casas grandes, bairros premium e garagens maiores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D963736-6F79-0DED-8B6A-7FF98787C6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3027" y="3097449"/>
            <a:ext cx="8921558" cy="345677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40E5C67B-0F1B-0AC5-7A28-3080A7F74780}"/>
              </a:ext>
            </a:extLst>
          </p:cNvPr>
          <p:cNvSpPr txBox="1"/>
          <p:nvPr/>
        </p:nvSpPr>
        <p:spPr>
          <a:xfrm>
            <a:off x="6477002" y="1240214"/>
            <a:ext cx="6097022" cy="73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LOF identificou 73 outliers, cerca de 5% da base</a:t>
            </a:r>
          </a:p>
          <a:p>
            <a:pPr marL="342900" indent="-342900">
              <a:spcAft>
                <a:spcPts val="700"/>
              </a:spcAft>
              <a:buFont typeface="+mj-lt"/>
              <a:buChar char="•"/>
            </a:pPr>
            <a:r>
              <a:rPr lang="pt-BR" dirty="0">
                <a:solidFill>
                  <a:srgbClr val="1E2227"/>
                </a:solidFill>
                <a:latin typeface="Aptos" panose="020B0004020202020204" pitchFamily="34" charset="0"/>
              </a:rPr>
              <a:t>Outliers ajudam a entender casos extremos</a:t>
            </a:r>
          </a:p>
        </p:txBody>
      </p:sp>
    </p:spTree>
    <p:extLst>
      <p:ext uri="{BB962C8B-B14F-4D97-AF65-F5344CB8AC3E}">
        <p14:creationId xmlns:p14="http://schemas.microsoft.com/office/powerpoint/2010/main" val="269253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6D25A27-2BDF-148A-8D85-5C41DECE5B79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C96A9D2-C4C1-758C-105B-F92F8FB0A442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 dirty="0">
                <a:solidFill>
                  <a:srgbClr val="FFFFFF"/>
                </a:solidFill>
                <a:latin typeface="Aptos" panose="020B0004020202020204" pitchFamily="34" charset="0"/>
              </a:rPr>
              <a:t>Visualização e </a:t>
            </a:r>
            <a:r>
              <a:rPr lang="pt-BR" sz="2400" b="1" dirty="0" err="1">
                <a:solidFill>
                  <a:srgbClr val="FFFFFF"/>
                </a:solidFill>
                <a:latin typeface="Aptos" panose="020B0004020202020204" pitchFamily="34" charset="0"/>
              </a:rPr>
              <a:t>Storytelling</a:t>
            </a:r>
            <a:endParaRPr lang="pt-BR" sz="2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6ADCF12-1C7F-9EB1-38B7-500B90DE0DE0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Natalia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C760CB-6477-A97E-844E-FC4EA9A83AFF}"/>
              </a:ext>
            </a:extLst>
          </p:cNvPr>
          <p:cNvSpPr txBox="1"/>
          <p:nvPr/>
        </p:nvSpPr>
        <p:spPr>
          <a:xfrm>
            <a:off x="833597" y="940707"/>
            <a:ext cx="10524805" cy="328295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pt-BR" b="1" dirty="0">
                <a:solidFill>
                  <a:srgbClr val="162B3A"/>
                </a:solidFill>
                <a:latin typeface="Aptos" panose="020B0004020202020204" pitchFamily="34" charset="0"/>
              </a:rPr>
              <a:t>Preço é resultado da combinação entre tamanho, qualidade, estrutura e idade do imóvel.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3FE442C-DEA0-BA2F-A65B-79EEEF656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76" y="1473110"/>
            <a:ext cx="10765069" cy="5323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430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23A6D0-A5DE-33B0-92F1-F784F63A2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4FB9926A-E5FC-2C01-6EA1-FD885EB0D94C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3B2D268-8170-A576-241E-748E084CB8F4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 dirty="0">
                <a:solidFill>
                  <a:srgbClr val="FFFFFF"/>
                </a:solidFill>
                <a:latin typeface="Aptos" panose="020B0004020202020204" pitchFamily="34" charset="0"/>
              </a:rPr>
              <a:t>Resultados Consolidados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E3B655B-5CA2-F6F8-FEED-2AC6E2589C01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>
                <a:solidFill>
                  <a:srgbClr val="FFFFFF"/>
                </a:solidFill>
                <a:latin typeface="Aptos" panose="020B0004020202020204" pitchFamily="34" charset="0"/>
              </a:rPr>
              <a:t>Natalia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FD84B28-4535-59C0-D8AD-07CCDCD722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053" y="1761294"/>
            <a:ext cx="10950972" cy="4031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430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1E21C59-2B8D-5FDD-E4D0-D12A32AAA2DB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61062F94-EB54-AC2F-0FA6-2AAC64060E78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Conclusões Principais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A3EED4D-B26B-AAA2-4759-9D52CEAB912F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 dirty="0">
                <a:solidFill>
                  <a:srgbClr val="FFFFFF"/>
                </a:solidFill>
                <a:latin typeface="Aptos" panose="020B0004020202020204" pitchFamily="34" charset="0"/>
              </a:rPr>
              <a:t>Fechamento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AEF8214-2F7C-FAF9-A62F-ADC588DB25CA}"/>
              </a:ext>
            </a:extLst>
          </p:cNvPr>
          <p:cNvSpPr/>
          <p:nvPr/>
        </p:nvSpPr>
        <p:spPr>
          <a:xfrm>
            <a:off x="825500" y="1151268"/>
            <a:ext cx="2413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846CB7F-AFE9-EA55-57D2-D3C6BF48E9A1}"/>
              </a:ext>
            </a:extLst>
          </p:cNvPr>
          <p:cNvSpPr txBox="1"/>
          <p:nvPr/>
        </p:nvSpPr>
        <p:spPr>
          <a:xfrm>
            <a:off x="952500" y="1320800"/>
            <a:ext cx="2159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 dirty="0">
                <a:solidFill>
                  <a:srgbClr val="268984"/>
                </a:solidFill>
                <a:latin typeface="Aptos" panose="020B0004020202020204" pitchFamily="34" charset="0"/>
              </a:rPr>
              <a:t>1458 x 298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77BB13B-285B-7AE7-3B13-A2EDD3394139}"/>
              </a:ext>
            </a:extLst>
          </p:cNvPr>
          <p:cNvSpPr txBox="1"/>
          <p:nvPr/>
        </p:nvSpPr>
        <p:spPr>
          <a:xfrm>
            <a:off x="952500" y="1828800"/>
            <a:ext cx="2159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base final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D78A3E9-0FD7-107A-1B7E-7CC35DB9F705}"/>
              </a:ext>
            </a:extLst>
          </p:cNvPr>
          <p:cNvSpPr/>
          <p:nvPr/>
        </p:nvSpPr>
        <p:spPr>
          <a:xfrm>
            <a:off x="3619500" y="1151268"/>
            <a:ext cx="2159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2E20507-2D97-8625-B948-F30DB694D7FB}"/>
              </a:ext>
            </a:extLst>
          </p:cNvPr>
          <p:cNvSpPr txBox="1"/>
          <p:nvPr/>
        </p:nvSpPr>
        <p:spPr>
          <a:xfrm>
            <a:off x="3746500" y="1320800"/>
            <a:ext cx="1905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589C66"/>
                </a:solidFill>
                <a:latin typeface="Aptos" panose="020B0004020202020204" pitchFamily="34" charset="0"/>
              </a:rPr>
              <a:t>0,817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AFB2F76-967A-C391-BBED-59B433029B76}"/>
              </a:ext>
            </a:extLst>
          </p:cNvPr>
          <p:cNvSpPr txBox="1"/>
          <p:nvPr/>
        </p:nvSpPr>
        <p:spPr>
          <a:xfrm>
            <a:off x="3746500" y="1828800"/>
            <a:ext cx="1905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R² regressão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035FE86-4205-F7AF-84B4-339E93D8655E}"/>
              </a:ext>
            </a:extLst>
          </p:cNvPr>
          <p:cNvSpPr/>
          <p:nvPr/>
        </p:nvSpPr>
        <p:spPr>
          <a:xfrm>
            <a:off x="6159500" y="1151268"/>
            <a:ext cx="2413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9B8A78F-037B-5E34-A945-73A5B84C29C8}"/>
              </a:ext>
            </a:extLst>
          </p:cNvPr>
          <p:cNvSpPr txBox="1"/>
          <p:nvPr/>
        </p:nvSpPr>
        <p:spPr>
          <a:xfrm>
            <a:off x="6286500" y="1320800"/>
            <a:ext cx="2159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E87E42"/>
                </a:solidFill>
                <a:latin typeface="Aptos" panose="020B0004020202020204" pitchFamily="34" charset="0"/>
              </a:rPr>
              <a:t>92,1%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D131BDF-090A-064E-997F-09D635C45F85}"/>
              </a:ext>
            </a:extLst>
          </p:cNvPr>
          <p:cNvSpPr txBox="1"/>
          <p:nvPr/>
        </p:nvSpPr>
        <p:spPr>
          <a:xfrm>
            <a:off x="6286500" y="1828800"/>
            <a:ext cx="2159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accuracy classificação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6AA23136-DA42-8DE8-0496-1240AA72C649}"/>
              </a:ext>
            </a:extLst>
          </p:cNvPr>
          <p:cNvSpPr/>
          <p:nvPr/>
        </p:nvSpPr>
        <p:spPr>
          <a:xfrm>
            <a:off x="8953500" y="1151268"/>
            <a:ext cx="1905000" cy="1117600"/>
          </a:xfrm>
          <a:prstGeom prst="rect">
            <a:avLst/>
          </a:prstGeom>
          <a:solidFill>
            <a:srgbClr val="F6F8FA"/>
          </a:solidFill>
          <a:ln>
            <a:solidFill>
              <a:srgbClr val="DCE0E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7C57086-39CA-8B66-BFC4-72FC1E57C6D7}"/>
              </a:ext>
            </a:extLst>
          </p:cNvPr>
          <p:cNvSpPr txBox="1"/>
          <p:nvPr/>
        </p:nvSpPr>
        <p:spPr>
          <a:xfrm>
            <a:off x="9080500" y="1320800"/>
            <a:ext cx="1651000" cy="436017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2500" b="1">
                <a:solidFill>
                  <a:srgbClr val="268984"/>
                </a:solidFill>
                <a:latin typeface="Aptos" panose="020B0004020202020204" pitchFamily="34" charset="0"/>
              </a:rPr>
              <a:t>73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83B4C74-12F3-E837-4946-E3BE783BD4CB}"/>
              </a:ext>
            </a:extLst>
          </p:cNvPr>
          <p:cNvSpPr txBox="1"/>
          <p:nvPr/>
        </p:nvSpPr>
        <p:spPr>
          <a:xfrm>
            <a:off x="9080500" y="1828800"/>
            <a:ext cx="16510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1200">
                <a:solidFill>
                  <a:srgbClr val="585F69"/>
                </a:solidFill>
                <a:latin typeface="Aptos" panose="020B0004020202020204" pitchFamily="34" charset="0"/>
              </a:rPr>
              <a:t>outliers LOF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E3FFDBB-A342-5F20-2AAB-415AF76589F5}"/>
              </a:ext>
            </a:extLst>
          </p:cNvPr>
          <p:cNvSpPr txBox="1"/>
          <p:nvPr/>
        </p:nvSpPr>
        <p:spPr>
          <a:xfrm>
            <a:off x="1333500" y="3175000"/>
            <a:ext cx="9525000" cy="220573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endParaRPr lang="pt-B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O preço não depende de uma única variável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Qualidade geral, área total, área habitável, banheiros, garagem e idade são sinais centrais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Feature </a:t>
            </a:r>
            <a:r>
              <a:rPr lang="pt-BR" sz="2000" dirty="0" err="1"/>
              <a:t>engineering</a:t>
            </a:r>
            <a:r>
              <a:rPr lang="pt-BR" sz="2000" dirty="0"/>
              <a:t> melhorou a interpretação e alimentou melhor os modelos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Modelos supervisionados tiveram forte poder preditivo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Modelos não supervisionados revelaram perfis e anomalias úteis</a:t>
            </a:r>
          </a:p>
        </p:txBody>
      </p:sp>
    </p:spTree>
    <p:extLst>
      <p:ext uri="{BB962C8B-B14F-4D97-AF65-F5344CB8AC3E}">
        <p14:creationId xmlns:p14="http://schemas.microsoft.com/office/powerpoint/2010/main" val="1271464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369DB67-E63D-5047-FDBA-561FDA1F5F25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162B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A15CA40-A736-94AB-A3CF-9D7F822135AA}"/>
              </a:ext>
            </a:extLst>
          </p:cNvPr>
          <p:cNvSpPr txBox="1"/>
          <p:nvPr/>
        </p:nvSpPr>
        <p:spPr>
          <a:xfrm>
            <a:off x="355600" y="127000"/>
            <a:ext cx="8636000" cy="420628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Aptos" panose="020B0004020202020204" pitchFamily="34" charset="0"/>
              </a:rPr>
              <a:t>Perguntas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594C998-712B-0F17-A442-6AB2C6E43282}"/>
              </a:ext>
            </a:extLst>
          </p:cNvPr>
          <p:cNvSpPr txBox="1"/>
          <p:nvPr/>
        </p:nvSpPr>
        <p:spPr>
          <a:xfrm>
            <a:off x="8763000" y="190500"/>
            <a:ext cx="3073400" cy="235962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r"/>
            <a:r>
              <a:rPr lang="pt-BR" sz="1200" dirty="0">
                <a:solidFill>
                  <a:srgbClr val="FFFFFF"/>
                </a:solidFill>
                <a:latin typeface="Aptos" panose="020B0004020202020204" pitchFamily="34" charset="0"/>
              </a:rPr>
              <a:t>Fim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C696AA7-4994-0A0F-D027-E4A185426927}"/>
              </a:ext>
            </a:extLst>
          </p:cNvPr>
          <p:cNvSpPr txBox="1"/>
          <p:nvPr/>
        </p:nvSpPr>
        <p:spPr>
          <a:xfrm>
            <a:off x="923946" y="3259127"/>
            <a:ext cx="10160000" cy="728405"/>
          </a:xfrm>
          <a:prstGeom prst="rect">
            <a:avLst/>
          </a:prstGeom>
          <a:noFill/>
        </p:spPr>
        <p:txBody>
          <a:bodyPr vert="horz" lIns="50800" tIns="25400" rIns="50800" bIns="25400" rtlCol="0">
            <a:spAutoFit/>
          </a:bodyPr>
          <a:lstStyle/>
          <a:p>
            <a:pPr algn="ctr"/>
            <a:r>
              <a:rPr lang="pt-BR" sz="4400" b="1" dirty="0">
                <a:solidFill>
                  <a:srgbClr val="162B3A"/>
                </a:solidFill>
                <a:latin typeface="Aptos" panose="020B0004020202020204" pitchFamily="34" charset="0"/>
              </a:rPr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41658854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759</Words>
  <Application>Microsoft Office PowerPoint</Application>
  <PresentationFormat>Widescreen</PresentationFormat>
  <Paragraphs>141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Vitor Dornela Mascarenhas</dc:creator>
  <cp:lastModifiedBy>Vitor Dornela Mascarenhas</cp:lastModifiedBy>
  <cp:revision>2</cp:revision>
  <dcterms:created xsi:type="dcterms:W3CDTF">2026-06-17T19:50:39Z</dcterms:created>
  <dcterms:modified xsi:type="dcterms:W3CDTF">2026-06-17T20:21:32Z</dcterms:modified>
</cp:coreProperties>
</file>