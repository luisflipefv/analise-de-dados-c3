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A7779-418D-4B2C-B560-E6B578682822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92DF0-A449-41ED-A0D9-8199815A29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220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Abertura por Vitor. Apresentar objetivo: entender quais características explicam melhor o preço das casas e construir um fluxo completo de análise de dados e machine learning.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478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Vitor apresenta rapidamente a divisão e reforça que a apresentação foi montada como uma história contínua, não como seis partes desconectadas.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505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Transição para Vitor: explicar que a primeira parte foi preparar dados confiáveis para que os modelos tivessem bons sinais de entrada.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787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Vitor: destacar que antes de qualquer modelo foi necessário entender distribuição, nulos, outliers e relações iniciais entre variáveis e preço.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108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Vitor: explicar que feature engineering transforma colunas técnicas em sinais mais próximos da lógica de mercado imobiliário.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958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Luis Felipe: explicar diferença entre regressão simples e múltipla. Frase-chave: usar apenas área ajuda, mas combinar qualidade, área total, banheiros e garagem explica muito mais.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431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Emanuel: destacar que as classes ficaram balanceadas pela mediana e que o desempenho alto mostra que a base separa bem imóveis acima e abaixo da mediana.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12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Rogeres: se perguntarem sobre silhouette baixo, responder que dados imobiliários têm sobreposição real, mas os perfis médios ainda são interpretáveis.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104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Alessandro: explicar em linguagem simples que Apriori encontra combinações frequentes e LOF encontra pontos fora do padrão local.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113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Natalia: reforçar que a etapa de visualização não é decoração; ela conecta dados, modelos e interpretação para o leitor.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275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Vitor fecha: resumir o fluxo completo e reforçar a principal conclusão: preço é multivariado, e a combinação de boas features com modelos adequados gera previsões e interpretações melhores.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524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Backup para perguntas: feature engineering foi importante porque traduziu colunas em conceitos imobiliários; PCA foi usado para visualização; SalePrice não entrou no treino dos clusters.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92DF0-A449-41ED-A0D9-8199815A291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32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89EF1-61FF-C7BD-68D1-8E4A72C4C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F87CB1-E8EA-9CFD-DCBB-8D84C3610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CCF3BB-A5D4-BB13-CEEB-12ED862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F4642E-4551-A0CF-4C0F-63C9438F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E5A7EF-DEBD-413D-5D89-3A2E9D0A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97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373F5-6A0A-48CD-57CC-F9A980DA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DDFB41-1856-3360-58CE-A315E9B2E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968790-DEA9-9372-4692-A9DCD2F6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D1E247-D1BD-FF94-EE25-87B9FB92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F35C98-8705-33ED-F73E-08D167B7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20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4E9F0-4B4D-74D3-C3BC-5A88B4F5B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BA6269-FE93-2FA6-DCBA-587C13BC9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1A1C60-8C48-78C2-C567-DC229B9E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C448AF-6A0D-8A15-4A81-7580EFC4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103657-ABB5-F59D-67C7-611D9844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35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48CC6-5517-6893-ADC7-DC55B003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200858-B110-DAD4-9F06-0DCA7647B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EDC5A8-842D-547B-35E7-B7E981817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9F34A6-DFB9-5FC8-B112-EED107D9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775A45-F513-C627-DCEE-8587F998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1789CC-1704-8A77-D692-306E114C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875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01A3A-73DA-04F6-3AEB-B51412CD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E67357-3D82-DE19-F10B-172549E25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1DE6EC-65C1-DEA9-2BAE-94E51FD36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0F4FD5-22CC-CA59-7E3F-A9B4273C6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65BCA6-8607-D8E1-9AEF-FFD3A4C44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B5B6AA-5A0D-DA6B-E452-2FB921DB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BDCB189-0F98-4D5E-5F95-60AB3A72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40FB54-9EFE-C73C-B21E-8B6533D9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5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F64F4-56AA-1C90-98FC-F5E9AEBA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9E1D8B-E749-3285-2F9A-FE31B8B5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238001D-D605-FB88-8650-F4EAFA00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CD2981-CC3B-AC7F-C698-FB968FDC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87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D172E1-A916-F282-4EBE-802A32F6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7AF841B-1F7A-D803-7493-1A829ADF4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2A6498-3EAD-489A-97E6-D8D53992A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85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5A619-BFF1-9637-C5E7-67BFA1C32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F89CF7-56D2-C8DB-E94C-6DE847A7F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A6FBA4-2323-D5F9-4547-E0ACFD40A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6FA41B-3BF4-59BB-1559-E6FEED31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40A0A6-E598-F0A8-989D-A4CE2E06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560D9-FB7A-5C6D-C3C0-C802465B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96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DB209-88C4-F342-EE24-3B2A7A9A2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3A25048-1EDC-D7A8-44DA-20BA5E18A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4201C2-75D7-3407-5054-FFAA284E5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17BE42-BE83-E7A2-7938-AC425B09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77806D-DB0A-FEE4-CC55-977A1EFD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08EC6C-84CA-8EBE-C3A4-B37781C0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784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70514-6B9B-328A-5320-9A5F13EB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CE667C-1144-5C30-B441-F990461F1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608ADF-F82C-1777-B3A2-484B79EAF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49BE82-C108-EDDC-629D-EAD493C13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D5F883-E3CD-EE05-F1BE-826865C3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53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40F1A9-B321-6550-9BC0-1442D5D83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3A41F4-6A65-D3AA-5925-7321DC008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BD53D-B9F0-5340-1D01-B6F3F6F1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8A933C-E21B-8462-CD7A-5EDC7BFA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4AB837-773F-48EA-7F16-0C020199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88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6A4D8F-1036-C4E3-E7AB-FE87D0DC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95C02F-F2BA-7473-AA90-9D55CCA8D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CD291F-9F2D-A144-ECC7-5BF4FB530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B437B-2330-4EDA-BC0F-19C015E2505B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E87085-F405-4A9A-15B1-F1633CE31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D5D19-7894-0F68-A191-036129019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29FCF-42D2-4232-A1D1-73027802DF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60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02AEA42-B3AC-9C46-9D02-A8755ABDFC09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D4E5809-8245-9D43-8A00-66F222657770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House Prices: Data Analysis &amp; Machine Learning</a:t>
            </a:r>
            <a:endParaRPr lang="pt-BR" sz="2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EB0E1C5-4682-4B24-1811-26C5C3D455A7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>
                <a:solidFill>
                  <a:srgbClr val="FFFFFF"/>
                </a:solidFill>
                <a:latin typeface="Aptos" panose="020B0004020202020204" pitchFamily="34" charset="0"/>
              </a:rPr>
              <a:t>10-15 min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625787-EDC9-47C8-84F4-C709C15CE7FB}"/>
              </a:ext>
            </a:extLst>
          </p:cNvPr>
          <p:cNvSpPr txBox="1"/>
          <p:nvPr/>
        </p:nvSpPr>
        <p:spPr>
          <a:xfrm>
            <a:off x="889000" y="1498600"/>
            <a:ext cx="10414000" cy="85151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162B3A"/>
                </a:solidFill>
                <a:latin typeface="Aptos" panose="020B0004020202020204" pitchFamily="34" charset="0"/>
              </a:rPr>
              <a:t>Análise de preços de casas nos EUA usando EDA, feature engineering, modelos supervisionados e não supervisionados.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BCEEDA9-FBA8-4BC2-7152-58843140C899}"/>
              </a:ext>
            </a:extLst>
          </p:cNvPr>
          <p:cNvSpPr/>
          <p:nvPr/>
        </p:nvSpPr>
        <p:spPr>
          <a:xfrm>
            <a:off x="1333500" y="3194844"/>
            <a:ext cx="2286000" cy="11684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286178-25F1-AC72-55C4-A192E33CD954}"/>
              </a:ext>
            </a:extLst>
          </p:cNvPr>
          <p:cNvSpPr txBox="1"/>
          <p:nvPr/>
        </p:nvSpPr>
        <p:spPr>
          <a:xfrm>
            <a:off x="1460500" y="3429000"/>
            <a:ext cx="2032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268984"/>
                </a:solidFill>
                <a:latin typeface="Aptos" panose="020B0004020202020204" pitchFamily="34" charset="0"/>
              </a:rPr>
              <a:t>1458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F1AA862-8FB1-0DF1-B0FC-DE9320D3D865}"/>
              </a:ext>
            </a:extLst>
          </p:cNvPr>
          <p:cNvSpPr txBox="1"/>
          <p:nvPr/>
        </p:nvSpPr>
        <p:spPr>
          <a:xfrm>
            <a:off x="1460500" y="3937000"/>
            <a:ext cx="2032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registros após tratamento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44FA3FF-89BC-E0CF-B181-A09C3A2E3FA4}"/>
              </a:ext>
            </a:extLst>
          </p:cNvPr>
          <p:cNvSpPr/>
          <p:nvPr/>
        </p:nvSpPr>
        <p:spPr>
          <a:xfrm>
            <a:off x="3810000" y="3201988"/>
            <a:ext cx="2286000" cy="11684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7176026-8CFD-ADC9-11EC-88D3CBB6D355}"/>
              </a:ext>
            </a:extLst>
          </p:cNvPr>
          <p:cNvSpPr txBox="1"/>
          <p:nvPr/>
        </p:nvSpPr>
        <p:spPr>
          <a:xfrm>
            <a:off x="3937000" y="3429000"/>
            <a:ext cx="2032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E87E42"/>
                </a:solidFill>
                <a:latin typeface="Aptos" panose="020B0004020202020204" pitchFamily="34" charset="0"/>
              </a:rPr>
              <a:t>298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6E2C59A-FE5B-3106-186E-8D249EBFF5D2}"/>
              </a:ext>
            </a:extLst>
          </p:cNvPr>
          <p:cNvSpPr txBox="1"/>
          <p:nvPr/>
        </p:nvSpPr>
        <p:spPr>
          <a:xfrm>
            <a:off x="3937000" y="3937000"/>
            <a:ext cx="2032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features processadas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8426363-9E9D-D2C3-9D36-63A926115917}"/>
              </a:ext>
            </a:extLst>
          </p:cNvPr>
          <p:cNvSpPr/>
          <p:nvPr/>
        </p:nvSpPr>
        <p:spPr>
          <a:xfrm>
            <a:off x="6286500" y="3216275"/>
            <a:ext cx="2286000" cy="11684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8A67024-7D13-1A5D-2C78-C44239627CCC}"/>
              </a:ext>
            </a:extLst>
          </p:cNvPr>
          <p:cNvSpPr txBox="1"/>
          <p:nvPr/>
        </p:nvSpPr>
        <p:spPr>
          <a:xfrm>
            <a:off x="6413500" y="3429000"/>
            <a:ext cx="2032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589C66"/>
                </a:solidFill>
                <a:latin typeface="Aptos" panose="020B0004020202020204" pitchFamily="34" charset="0"/>
              </a:rPr>
              <a:t>0,817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E30A0BF-759E-14F9-6AF2-3CC855A1AEF5}"/>
              </a:ext>
            </a:extLst>
          </p:cNvPr>
          <p:cNvSpPr txBox="1"/>
          <p:nvPr/>
        </p:nvSpPr>
        <p:spPr>
          <a:xfrm>
            <a:off x="6413500" y="3937000"/>
            <a:ext cx="2032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R² regressão múltipla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46DE11B-1A3A-2450-327C-12293EA2894C}"/>
              </a:ext>
            </a:extLst>
          </p:cNvPr>
          <p:cNvSpPr/>
          <p:nvPr/>
        </p:nvSpPr>
        <p:spPr>
          <a:xfrm>
            <a:off x="8763000" y="3216275"/>
            <a:ext cx="2286000" cy="11684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9A9D07A-0DFC-00A5-A864-F6DE8D7805EF}"/>
              </a:ext>
            </a:extLst>
          </p:cNvPr>
          <p:cNvSpPr txBox="1"/>
          <p:nvPr/>
        </p:nvSpPr>
        <p:spPr>
          <a:xfrm>
            <a:off x="8890000" y="3429000"/>
            <a:ext cx="2032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268984"/>
                </a:solidFill>
                <a:latin typeface="Aptos" panose="020B0004020202020204" pitchFamily="34" charset="0"/>
              </a:rPr>
              <a:t>92,1%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2DF3FF4-ABC5-C5E8-8B5E-1FBAF6F5EE12}"/>
              </a:ext>
            </a:extLst>
          </p:cNvPr>
          <p:cNvSpPr txBox="1"/>
          <p:nvPr/>
        </p:nvSpPr>
        <p:spPr>
          <a:xfrm>
            <a:off x="8890000" y="3937000"/>
            <a:ext cx="2032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acurácia classificação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0DC24FB-99FF-16E2-07ED-0B36CC44DCDE}"/>
              </a:ext>
            </a:extLst>
          </p:cNvPr>
          <p:cNvSpPr txBox="1"/>
          <p:nvPr/>
        </p:nvSpPr>
        <p:spPr>
          <a:xfrm>
            <a:off x="1270000" y="5524500"/>
            <a:ext cx="9652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700">
                <a:solidFill>
                  <a:srgbClr val="585F69"/>
                </a:solidFill>
                <a:latin typeface="Aptos" panose="020B0004020202020204" pitchFamily="34" charset="0"/>
              </a:rPr>
              <a:t>Grupo: Vitor, Luis Felipe, Emanuel, Rogeres, Alessandro e Natalia</a:t>
            </a:r>
          </a:p>
        </p:txBody>
      </p:sp>
    </p:spTree>
    <p:extLst>
      <p:ext uri="{BB962C8B-B14F-4D97-AF65-F5344CB8AC3E}">
        <p14:creationId xmlns:p14="http://schemas.microsoft.com/office/powerpoint/2010/main" val="267347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92D966A-7CE9-9A05-6E19-891B76A949A9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6AE2B6-B0A8-4FD6-74F5-D0BE52C304D4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Divisão do Grupo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69E3E3-35C8-252A-013E-BB2A0B943C90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 dirty="0">
                <a:solidFill>
                  <a:srgbClr val="FFFFFF"/>
                </a:solidFill>
                <a:latin typeface="Aptos" panose="020B0004020202020204" pitchFamily="34" charset="0"/>
              </a:rPr>
              <a:t>Quem fez o quê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E9AABD-DED8-E06D-905D-60BB9207AE65}"/>
              </a:ext>
            </a:extLst>
          </p:cNvPr>
          <p:cNvSpPr/>
          <p:nvPr/>
        </p:nvSpPr>
        <p:spPr>
          <a:xfrm>
            <a:off x="1016000" y="1333500"/>
            <a:ext cx="2032000" cy="533400"/>
          </a:xfrm>
          <a:prstGeom prst="rect">
            <a:avLst/>
          </a:prstGeom>
          <a:solidFill>
            <a:srgbClr val="F6F8FA"/>
          </a:solidFill>
          <a:ln>
            <a:solidFill>
              <a:srgbClr val="DEE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504576-13A7-2E6D-A184-9F5B784099B7}"/>
              </a:ext>
            </a:extLst>
          </p:cNvPr>
          <p:cNvSpPr txBox="1"/>
          <p:nvPr/>
        </p:nvSpPr>
        <p:spPr>
          <a:xfrm>
            <a:off x="1168400" y="1435100"/>
            <a:ext cx="17272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b="1">
                <a:solidFill>
                  <a:srgbClr val="162B3A"/>
                </a:solidFill>
                <a:latin typeface="Aptos" panose="020B0004020202020204" pitchFamily="34" charset="0"/>
              </a:rPr>
              <a:t>Vitor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1E3DF4-3F1D-ACB6-9AB1-76DEA8C7CEB6}"/>
              </a:ext>
            </a:extLst>
          </p:cNvPr>
          <p:cNvSpPr txBox="1"/>
          <p:nvPr/>
        </p:nvSpPr>
        <p:spPr>
          <a:xfrm>
            <a:off x="3429000" y="1409700"/>
            <a:ext cx="7620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EDA, Feature Engineering, integração e organização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DED9A92-5CB7-1DDF-F37E-7E7C3F803CF2}"/>
              </a:ext>
            </a:extLst>
          </p:cNvPr>
          <p:cNvSpPr/>
          <p:nvPr/>
        </p:nvSpPr>
        <p:spPr>
          <a:xfrm>
            <a:off x="1016000" y="2070100"/>
            <a:ext cx="2032000" cy="533400"/>
          </a:xfrm>
          <a:prstGeom prst="rect">
            <a:avLst/>
          </a:prstGeom>
          <a:solidFill>
            <a:srgbClr val="F6F8FA"/>
          </a:solidFill>
          <a:ln>
            <a:solidFill>
              <a:srgbClr val="DEE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8C0C9E-D1B5-77E2-DF23-0BDCED07EED7}"/>
              </a:ext>
            </a:extLst>
          </p:cNvPr>
          <p:cNvSpPr txBox="1"/>
          <p:nvPr/>
        </p:nvSpPr>
        <p:spPr>
          <a:xfrm>
            <a:off x="1168400" y="2171700"/>
            <a:ext cx="17272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b="1">
                <a:solidFill>
                  <a:srgbClr val="162B3A"/>
                </a:solidFill>
                <a:latin typeface="Aptos" panose="020B0004020202020204" pitchFamily="34" charset="0"/>
              </a:rPr>
              <a:t>Luis Felipe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44887E-E2D5-03ED-28A0-A4397A16353B}"/>
              </a:ext>
            </a:extLst>
          </p:cNvPr>
          <p:cNvSpPr txBox="1"/>
          <p:nvPr/>
        </p:nvSpPr>
        <p:spPr>
          <a:xfrm>
            <a:off x="3429000" y="2146300"/>
            <a:ext cx="7620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Regressão linear simples e múltipla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028DBEA-7A1B-8F13-7813-907426DF46DD}"/>
              </a:ext>
            </a:extLst>
          </p:cNvPr>
          <p:cNvSpPr/>
          <p:nvPr/>
        </p:nvSpPr>
        <p:spPr>
          <a:xfrm>
            <a:off x="1016000" y="2806700"/>
            <a:ext cx="2032000" cy="533400"/>
          </a:xfrm>
          <a:prstGeom prst="rect">
            <a:avLst/>
          </a:prstGeom>
          <a:solidFill>
            <a:srgbClr val="F6F8FA"/>
          </a:solidFill>
          <a:ln>
            <a:solidFill>
              <a:srgbClr val="DEE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F401391-5741-BFA6-C914-FF520786A16E}"/>
              </a:ext>
            </a:extLst>
          </p:cNvPr>
          <p:cNvSpPr txBox="1"/>
          <p:nvPr/>
        </p:nvSpPr>
        <p:spPr>
          <a:xfrm>
            <a:off x="1168400" y="2908300"/>
            <a:ext cx="17272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b="1">
                <a:solidFill>
                  <a:srgbClr val="162B3A"/>
                </a:solidFill>
                <a:latin typeface="Aptos" panose="020B0004020202020204" pitchFamily="34" charset="0"/>
              </a:rPr>
              <a:t>Emanuel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FC3994-B828-4172-E833-7561A12BEA39}"/>
              </a:ext>
            </a:extLst>
          </p:cNvPr>
          <p:cNvSpPr txBox="1"/>
          <p:nvPr/>
        </p:nvSpPr>
        <p:spPr>
          <a:xfrm>
            <a:off x="3429000" y="2882900"/>
            <a:ext cx="7620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Classificação: Regressão Logística e Random Forest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550B072-B48E-DEF6-2C7A-F1096E3D2E57}"/>
              </a:ext>
            </a:extLst>
          </p:cNvPr>
          <p:cNvSpPr/>
          <p:nvPr/>
        </p:nvSpPr>
        <p:spPr>
          <a:xfrm>
            <a:off x="1016000" y="3543300"/>
            <a:ext cx="2032000" cy="533400"/>
          </a:xfrm>
          <a:prstGeom prst="rect">
            <a:avLst/>
          </a:prstGeom>
          <a:solidFill>
            <a:srgbClr val="F6F8FA"/>
          </a:solidFill>
          <a:ln>
            <a:solidFill>
              <a:srgbClr val="DEE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3B222D-CBE7-BFB5-47EA-9350970AFD80}"/>
              </a:ext>
            </a:extLst>
          </p:cNvPr>
          <p:cNvSpPr txBox="1"/>
          <p:nvPr/>
        </p:nvSpPr>
        <p:spPr>
          <a:xfrm>
            <a:off x="1168400" y="3644900"/>
            <a:ext cx="17272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b="1">
                <a:solidFill>
                  <a:srgbClr val="162B3A"/>
                </a:solidFill>
                <a:latin typeface="Aptos" panose="020B0004020202020204" pitchFamily="34" charset="0"/>
              </a:rPr>
              <a:t>Rogeres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77B56B-34A6-E661-6E2B-4591604B3D32}"/>
              </a:ext>
            </a:extLst>
          </p:cNvPr>
          <p:cNvSpPr txBox="1"/>
          <p:nvPr/>
        </p:nvSpPr>
        <p:spPr>
          <a:xfrm>
            <a:off x="3429000" y="3619500"/>
            <a:ext cx="7620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Clusterização, PCA e t-SNE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0042B77-9AD4-B9F4-FB20-FAA711F5A066}"/>
              </a:ext>
            </a:extLst>
          </p:cNvPr>
          <p:cNvSpPr/>
          <p:nvPr/>
        </p:nvSpPr>
        <p:spPr>
          <a:xfrm>
            <a:off x="1016000" y="4279900"/>
            <a:ext cx="2032000" cy="533400"/>
          </a:xfrm>
          <a:prstGeom prst="rect">
            <a:avLst/>
          </a:prstGeom>
          <a:solidFill>
            <a:srgbClr val="F6F8FA"/>
          </a:solidFill>
          <a:ln>
            <a:solidFill>
              <a:srgbClr val="DEE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C9483E8-233F-8457-98CA-0C9AC7BCE8D3}"/>
              </a:ext>
            </a:extLst>
          </p:cNvPr>
          <p:cNvSpPr txBox="1"/>
          <p:nvPr/>
        </p:nvSpPr>
        <p:spPr>
          <a:xfrm>
            <a:off x="1168400" y="4381500"/>
            <a:ext cx="17272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b="1">
                <a:solidFill>
                  <a:srgbClr val="162B3A"/>
                </a:solidFill>
                <a:latin typeface="Aptos" panose="020B0004020202020204" pitchFamily="34" charset="0"/>
              </a:rPr>
              <a:t>Alessandro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A87DE5A-6DE8-2CB5-1ADD-BE95A28FB019}"/>
              </a:ext>
            </a:extLst>
          </p:cNvPr>
          <p:cNvSpPr txBox="1"/>
          <p:nvPr/>
        </p:nvSpPr>
        <p:spPr>
          <a:xfrm>
            <a:off x="3429000" y="4356100"/>
            <a:ext cx="7620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Apriori e Local Outlier Factor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A9C417A-E384-BDB1-3301-52628B09DB80}"/>
              </a:ext>
            </a:extLst>
          </p:cNvPr>
          <p:cNvSpPr/>
          <p:nvPr/>
        </p:nvSpPr>
        <p:spPr>
          <a:xfrm>
            <a:off x="1016000" y="5016500"/>
            <a:ext cx="2032000" cy="533400"/>
          </a:xfrm>
          <a:prstGeom prst="rect">
            <a:avLst/>
          </a:prstGeom>
          <a:solidFill>
            <a:srgbClr val="F6F8FA"/>
          </a:solidFill>
          <a:ln>
            <a:solidFill>
              <a:srgbClr val="DEE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2C58983-DE9F-8FF5-FFD0-252E7877A924}"/>
              </a:ext>
            </a:extLst>
          </p:cNvPr>
          <p:cNvSpPr txBox="1"/>
          <p:nvPr/>
        </p:nvSpPr>
        <p:spPr>
          <a:xfrm>
            <a:off x="1168400" y="5118100"/>
            <a:ext cx="17272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b="1">
                <a:solidFill>
                  <a:srgbClr val="162B3A"/>
                </a:solidFill>
                <a:latin typeface="Aptos" panose="020B0004020202020204" pitchFamily="34" charset="0"/>
              </a:rPr>
              <a:t>Natalia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B60633-3264-D662-274F-5EB3136A9038}"/>
              </a:ext>
            </a:extLst>
          </p:cNvPr>
          <p:cNvSpPr txBox="1"/>
          <p:nvPr/>
        </p:nvSpPr>
        <p:spPr>
          <a:xfrm>
            <a:off x="3429000" y="5092700"/>
            <a:ext cx="7620000" cy="3282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Visualização de dados e storytelling</a:t>
            </a:r>
          </a:p>
        </p:txBody>
      </p:sp>
    </p:spTree>
    <p:extLst>
      <p:ext uri="{BB962C8B-B14F-4D97-AF65-F5344CB8AC3E}">
        <p14:creationId xmlns:p14="http://schemas.microsoft.com/office/powerpoint/2010/main" val="28752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B70C6C-6C08-5A03-EDBF-A602A78F518A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90E955-F066-D880-8D78-5B5727C817C4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Fluxo Analítico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064712E-FFE4-7ECB-5D40-B7793B2BF5AA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 dirty="0">
                <a:solidFill>
                  <a:srgbClr val="FFFFFF"/>
                </a:solidFill>
                <a:latin typeface="Aptos" panose="020B0004020202020204" pitchFamily="34" charset="0"/>
              </a:rPr>
              <a:t>Da base bruta aos insights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224AF9-0C3E-859F-4921-51DCBFD350AF}"/>
              </a:ext>
            </a:extLst>
          </p:cNvPr>
          <p:cNvSpPr/>
          <p:nvPr/>
        </p:nvSpPr>
        <p:spPr>
          <a:xfrm>
            <a:off x="698500" y="1905000"/>
            <a:ext cx="1651000" cy="16510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B23D57-4A73-4EA0-1890-9D0E5F38AB06}"/>
              </a:ext>
            </a:extLst>
          </p:cNvPr>
          <p:cNvSpPr txBox="1"/>
          <p:nvPr/>
        </p:nvSpPr>
        <p:spPr>
          <a:xfrm>
            <a:off x="1206500" y="2159000"/>
            <a:ext cx="635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3000" b="1">
                <a:solidFill>
                  <a:srgbClr val="268984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80B8F9-BB9D-0A98-93A9-D14A589229D0}"/>
              </a:ext>
            </a:extLst>
          </p:cNvPr>
          <p:cNvSpPr txBox="1"/>
          <p:nvPr/>
        </p:nvSpPr>
        <p:spPr>
          <a:xfrm>
            <a:off x="850900" y="2794000"/>
            <a:ext cx="13462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400" b="1" dirty="0">
                <a:solidFill>
                  <a:srgbClr val="162B3A"/>
                </a:solidFill>
                <a:latin typeface="Aptos" panose="020B0004020202020204" pitchFamily="34" charset="0"/>
              </a:rPr>
              <a:t>EDA e limpeza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AC32966-0B0C-C0E7-678C-663D99E870EE}"/>
              </a:ext>
            </a:extLst>
          </p:cNvPr>
          <p:cNvSpPr/>
          <p:nvPr/>
        </p:nvSpPr>
        <p:spPr>
          <a:xfrm>
            <a:off x="2578100" y="1905000"/>
            <a:ext cx="1651000" cy="16510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89893F-4803-4D40-3319-98DD03082920}"/>
              </a:ext>
            </a:extLst>
          </p:cNvPr>
          <p:cNvSpPr txBox="1"/>
          <p:nvPr/>
        </p:nvSpPr>
        <p:spPr>
          <a:xfrm>
            <a:off x="3086100" y="2159000"/>
            <a:ext cx="635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3000" b="1">
                <a:solidFill>
                  <a:srgbClr val="E87E42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4DC032-864C-B2CA-C7D7-F7F7AB9A5B57}"/>
              </a:ext>
            </a:extLst>
          </p:cNvPr>
          <p:cNvSpPr txBox="1"/>
          <p:nvPr/>
        </p:nvSpPr>
        <p:spPr>
          <a:xfrm>
            <a:off x="2730500" y="2794000"/>
            <a:ext cx="1346200" cy="48218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400" b="1" dirty="0">
                <a:solidFill>
                  <a:srgbClr val="162B3A"/>
                </a:solidFill>
                <a:latin typeface="Aptos" panose="020B0004020202020204" pitchFamily="34" charset="0"/>
              </a:rPr>
              <a:t>Feature </a:t>
            </a:r>
            <a:r>
              <a:rPr lang="pt-BR" sz="1400" b="1" dirty="0" err="1">
                <a:solidFill>
                  <a:srgbClr val="162B3A"/>
                </a:solidFill>
                <a:latin typeface="Aptos" panose="020B0004020202020204" pitchFamily="34" charset="0"/>
              </a:rPr>
              <a:t>engineering</a:t>
            </a:r>
            <a:endParaRPr lang="pt-BR" sz="1400" b="1" dirty="0">
              <a:solidFill>
                <a:srgbClr val="162B3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8A893D1-C583-BD29-0973-02641397FB78}"/>
              </a:ext>
            </a:extLst>
          </p:cNvPr>
          <p:cNvSpPr/>
          <p:nvPr/>
        </p:nvSpPr>
        <p:spPr>
          <a:xfrm>
            <a:off x="4457700" y="1905000"/>
            <a:ext cx="1651000" cy="16510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301339E-AB12-2973-1B08-2DBA92192FC0}"/>
              </a:ext>
            </a:extLst>
          </p:cNvPr>
          <p:cNvSpPr txBox="1"/>
          <p:nvPr/>
        </p:nvSpPr>
        <p:spPr>
          <a:xfrm>
            <a:off x="4965700" y="2159000"/>
            <a:ext cx="635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3000" b="1">
                <a:solidFill>
                  <a:srgbClr val="589C66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0EB8260-7533-891B-A71C-8BB3345EAF95}"/>
              </a:ext>
            </a:extLst>
          </p:cNvPr>
          <p:cNvSpPr txBox="1"/>
          <p:nvPr/>
        </p:nvSpPr>
        <p:spPr>
          <a:xfrm>
            <a:off x="4610100" y="2794000"/>
            <a:ext cx="13462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400" b="1" dirty="0">
                <a:solidFill>
                  <a:srgbClr val="162B3A"/>
                </a:solidFill>
                <a:latin typeface="Aptos" panose="020B0004020202020204" pitchFamily="34" charset="0"/>
              </a:rPr>
              <a:t>Regressão</a:t>
            </a:r>
            <a:endParaRPr lang="pt-BR" sz="1600" b="1" dirty="0">
              <a:solidFill>
                <a:srgbClr val="162B3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475EF28-C9D5-E432-10A6-8370FF85D07B}"/>
              </a:ext>
            </a:extLst>
          </p:cNvPr>
          <p:cNvSpPr/>
          <p:nvPr/>
        </p:nvSpPr>
        <p:spPr>
          <a:xfrm>
            <a:off x="6337300" y="1905000"/>
            <a:ext cx="1651000" cy="16510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B902E7E-3650-878C-BF66-F5214337A27A}"/>
              </a:ext>
            </a:extLst>
          </p:cNvPr>
          <p:cNvSpPr txBox="1"/>
          <p:nvPr/>
        </p:nvSpPr>
        <p:spPr>
          <a:xfrm>
            <a:off x="6845300" y="2159000"/>
            <a:ext cx="635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3000" b="1">
                <a:solidFill>
                  <a:srgbClr val="26898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60F4F77-D172-3799-3859-F157257FB849}"/>
              </a:ext>
            </a:extLst>
          </p:cNvPr>
          <p:cNvSpPr txBox="1"/>
          <p:nvPr/>
        </p:nvSpPr>
        <p:spPr>
          <a:xfrm>
            <a:off x="6489700" y="2794000"/>
            <a:ext cx="13462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400" b="1" dirty="0">
                <a:solidFill>
                  <a:srgbClr val="162B3A"/>
                </a:solidFill>
                <a:latin typeface="Aptos" panose="020B0004020202020204" pitchFamily="34" charset="0"/>
              </a:rPr>
              <a:t>Classificação</a:t>
            </a:r>
            <a:endParaRPr lang="pt-BR" sz="1600" b="1" dirty="0">
              <a:solidFill>
                <a:srgbClr val="162B3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6873B9B-2017-2CC3-C4DA-F82BA65AA15D}"/>
              </a:ext>
            </a:extLst>
          </p:cNvPr>
          <p:cNvSpPr/>
          <p:nvPr/>
        </p:nvSpPr>
        <p:spPr>
          <a:xfrm>
            <a:off x="8216900" y="1905000"/>
            <a:ext cx="1651000" cy="16510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14FC90-3AD6-55C4-3C4D-04933C84FE7A}"/>
              </a:ext>
            </a:extLst>
          </p:cNvPr>
          <p:cNvSpPr txBox="1"/>
          <p:nvPr/>
        </p:nvSpPr>
        <p:spPr>
          <a:xfrm>
            <a:off x="8724900" y="2159000"/>
            <a:ext cx="635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3000" b="1">
                <a:solidFill>
                  <a:srgbClr val="E87E42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609ECCD-B8F1-23F2-6921-9F478B7F3B24}"/>
              </a:ext>
            </a:extLst>
          </p:cNvPr>
          <p:cNvSpPr txBox="1"/>
          <p:nvPr/>
        </p:nvSpPr>
        <p:spPr>
          <a:xfrm>
            <a:off x="8369300" y="2794000"/>
            <a:ext cx="13462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400" b="1" dirty="0">
                <a:solidFill>
                  <a:srgbClr val="162B3A"/>
                </a:solidFill>
                <a:latin typeface="Aptos" panose="020B0004020202020204" pitchFamily="34" charset="0"/>
              </a:rPr>
              <a:t>Clusterização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B1E41C3-DDB7-0B0F-D36D-DF8C35BB8BD6}"/>
              </a:ext>
            </a:extLst>
          </p:cNvPr>
          <p:cNvSpPr/>
          <p:nvPr/>
        </p:nvSpPr>
        <p:spPr>
          <a:xfrm>
            <a:off x="10096500" y="1905000"/>
            <a:ext cx="1651000" cy="16510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42DCAA6-1D86-ECC5-5581-70B755D72211}"/>
              </a:ext>
            </a:extLst>
          </p:cNvPr>
          <p:cNvSpPr txBox="1"/>
          <p:nvPr/>
        </p:nvSpPr>
        <p:spPr>
          <a:xfrm>
            <a:off x="10604500" y="2159000"/>
            <a:ext cx="635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3000" b="1">
                <a:solidFill>
                  <a:srgbClr val="589C66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5CC944E-BE36-F884-AE72-964913AF98B8}"/>
              </a:ext>
            </a:extLst>
          </p:cNvPr>
          <p:cNvSpPr txBox="1"/>
          <p:nvPr/>
        </p:nvSpPr>
        <p:spPr>
          <a:xfrm>
            <a:off x="10248900" y="2794000"/>
            <a:ext cx="1346200" cy="69762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400" b="1" dirty="0">
                <a:solidFill>
                  <a:srgbClr val="162B3A"/>
                </a:solidFill>
                <a:latin typeface="Aptos" panose="020B0004020202020204" pitchFamily="34" charset="0"/>
              </a:rPr>
              <a:t>Associação, outliers e </a:t>
            </a:r>
            <a:r>
              <a:rPr lang="pt-BR" sz="1400" b="1" dirty="0" err="1">
                <a:solidFill>
                  <a:srgbClr val="162B3A"/>
                </a:solidFill>
                <a:latin typeface="Aptos" panose="020B0004020202020204" pitchFamily="34" charset="0"/>
              </a:rPr>
              <a:t>storytelling</a:t>
            </a:r>
            <a:endParaRPr lang="pt-BR" sz="1400" b="1" dirty="0">
              <a:solidFill>
                <a:srgbClr val="162B3A"/>
              </a:solidFill>
              <a:latin typeface="Aptos" panose="020B0004020202020204" pitchFamily="3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8E190CA-B5ED-412D-8552-B24EF66CE564}"/>
              </a:ext>
            </a:extLst>
          </p:cNvPr>
          <p:cNvSpPr txBox="1"/>
          <p:nvPr/>
        </p:nvSpPr>
        <p:spPr>
          <a:xfrm>
            <a:off x="1143000" y="4572000"/>
            <a:ext cx="9906000" cy="78996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400" b="1">
                <a:solidFill>
                  <a:srgbClr val="162B3A"/>
                </a:solidFill>
                <a:latin typeface="Aptos" panose="020B0004020202020204" pitchFamily="34" charset="0"/>
              </a:rPr>
              <a:t>Pergunta-guia: quais fatores estruturais e qualitativos mais ajudam a explicar ou prever o preço de venda?</a:t>
            </a:r>
          </a:p>
        </p:txBody>
      </p:sp>
    </p:spTree>
    <p:extLst>
      <p:ext uri="{BB962C8B-B14F-4D97-AF65-F5344CB8AC3E}">
        <p14:creationId xmlns:p14="http://schemas.microsoft.com/office/powerpoint/2010/main" val="4085953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579D4F4-4310-1606-8B84-302333049C33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893ADF4-4909-8115-5A9E-C56B937B74D7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EDA e Preparação dos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4E70CD1-AC39-4D42-9AEF-D3973040F935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>
                <a:solidFill>
                  <a:srgbClr val="FFFFFF"/>
                </a:solidFill>
                <a:latin typeface="Aptos" panose="020B0004020202020204" pitchFamily="34" charset="0"/>
              </a:rPr>
              <a:t>Vitor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D41166-8E38-D935-746C-12B22FA62114}"/>
              </a:ext>
            </a:extLst>
          </p:cNvPr>
          <p:cNvSpPr txBox="1"/>
          <p:nvPr/>
        </p:nvSpPr>
        <p:spPr>
          <a:xfrm>
            <a:off x="736600" y="1206500"/>
            <a:ext cx="4953000" cy="280076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Base original: 1460 linhas e 81 variáveis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Alvo do problema: SalePrice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Tratamento de nulos com imputação por mediana/moda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Remoção de outliers clássicos em GrLivArea x SalePrice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Normalização de numéricas e One-Hot Encoding de categóricas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AB21E46-A801-0F2F-1A48-2C7960987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6500"/>
            <a:ext cx="5632254" cy="234677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F5DA2E9-4C41-CD5B-691B-08892FBCF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144" y="3799573"/>
            <a:ext cx="5411110" cy="270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81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5247220-B857-3EB1-373D-F4FD3AC8AB7E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0AFE09-370D-BE95-83AE-B0FF6B67809A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Feature Engineering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7FB8CC-77DC-BC9D-82AA-461BA32C3BC8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>
                <a:solidFill>
                  <a:srgbClr val="FFFFFF"/>
                </a:solidFill>
                <a:latin typeface="Aptos" panose="020B0004020202020204" pitchFamily="34" charset="0"/>
              </a:rPr>
              <a:t>Vitor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7464FD-77B7-A51C-49EB-D4535253BFAF}"/>
              </a:ext>
            </a:extLst>
          </p:cNvPr>
          <p:cNvSpPr txBox="1"/>
          <p:nvPr/>
        </p:nvSpPr>
        <p:spPr>
          <a:xfrm>
            <a:off x="787400" y="1270000"/>
            <a:ext cx="5461000" cy="338554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TotalSF: área total combinando porão e pavimentos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TotalBathrooms: banheiros completos e lavabos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HouseAge e YearsSinceRemodel: idade e atualização do imóvel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HasGarage, HasBasement, HasFireplace e HasPool: atributos estruturais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Base final processada: 1458 linhas x 298 colunas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7821BB0-BBEE-EE71-B3A5-539CE409A76A}"/>
              </a:ext>
            </a:extLst>
          </p:cNvPr>
          <p:cNvSpPr/>
          <p:nvPr/>
        </p:nvSpPr>
        <p:spPr>
          <a:xfrm>
            <a:off x="6858000" y="1460499"/>
            <a:ext cx="3937000" cy="3385541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3FDFB70-E1B0-5B51-6529-1C552BA14D65}"/>
              </a:ext>
            </a:extLst>
          </p:cNvPr>
          <p:cNvSpPr txBox="1"/>
          <p:nvPr/>
        </p:nvSpPr>
        <p:spPr>
          <a:xfrm>
            <a:off x="7239000" y="1841500"/>
            <a:ext cx="3175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400" b="1" dirty="0">
                <a:solidFill>
                  <a:srgbClr val="162B3A"/>
                </a:solidFill>
                <a:latin typeface="Aptos" panose="020B0004020202020204" pitchFamily="34" charset="0"/>
              </a:rPr>
              <a:t>Features criadas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D7A925-759F-B96E-B4DE-BD53EFA12670}"/>
              </a:ext>
            </a:extLst>
          </p:cNvPr>
          <p:cNvSpPr txBox="1"/>
          <p:nvPr/>
        </p:nvSpPr>
        <p:spPr>
          <a:xfrm>
            <a:off x="7302500" y="2603500"/>
            <a:ext cx="3048000" cy="193899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000" dirty="0">
                <a:solidFill>
                  <a:srgbClr val="1E2227"/>
                </a:solidFill>
                <a:latin typeface="Aptos" panose="020B0004020202020204" pitchFamily="34" charset="0"/>
              </a:rPr>
              <a:t>As novas variáveis condensam sinais imobiliários relevantes: tamanho, conforto, idade, conservação e presença de estruturas valorizadas.</a:t>
            </a:r>
          </a:p>
        </p:txBody>
      </p:sp>
    </p:spTree>
    <p:extLst>
      <p:ext uri="{BB962C8B-B14F-4D97-AF65-F5344CB8AC3E}">
        <p14:creationId xmlns:p14="http://schemas.microsoft.com/office/powerpoint/2010/main" val="86704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E30FB0-50F6-A47C-F489-F98F61C317DD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7B669D-CFB9-1A11-E2C2-D355406C9BDF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Regressão: Prever o Preço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C61B340-22F9-09FB-4659-0457D6FC8CBE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>
                <a:solidFill>
                  <a:srgbClr val="FFFFFF"/>
                </a:solidFill>
                <a:latin typeface="Aptos" panose="020B0004020202020204" pitchFamily="34" charset="0"/>
              </a:rPr>
              <a:t>Luis Felipe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7404A8B-90C9-5F08-C3F7-40C8D8C6E5E3}"/>
              </a:ext>
            </a:extLst>
          </p:cNvPr>
          <p:cNvSpPr/>
          <p:nvPr/>
        </p:nvSpPr>
        <p:spPr>
          <a:xfrm>
            <a:off x="762000" y="1270000"/>
            <a:ext cx="2159000" cy="11684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14EA85-A717-883F-C555-18641E683996}"/>
              </a:ext>
            </a:extLst>
          </p:cNvPr>
          <p:cNvSpPr txBox="1"/>
          <p:nvPr/>
        </p:nvSpPr>
        <p:spPr>
          <a:xfrm>
            <a:off x="889000" y="1397000"/>
            <a:ext cx="1905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E87E42"/>
                </a:solidFill>
                <a:latin typeface="Aptos" panose="020B0004020202020204" pitchFamily="34" charset="0"/>
              </a:rPr>
              <a:t>0,492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AB5D92-2433-5B3A-F4A2-071C0E5B0BEC}"/>
              </a:ext>
            </a:extLst>
          </p:cNvPr>
          <p:cNvSpPr txBox="1"/>
          <p:nvPr/>
        </p:nvSpPr>
        <p:spPr>
          <a:xfrm>
            <a:off x="889000" y="1905000"/>
            <a:ext cx="1905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R² regressão simples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96CE10F-F2C2-E3CD-A016-9A0E3311BCEE}"/>
              </a:ext>
            </a:extLst>
          </p:cNvPr>
          <p:cNvSpPr/>
          <p:nvPr/>
        </p:nvSpPr>
        <p:spPr>
          <a:xfrm>
            <a:off x="3175000" y="1270000"/>
            <a:ext cx="2159000" cy="11684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703082C-F611-130D-4F14-745D93D0A515}"/>
              </a:ext>
            </a:extLst>
          </p:cNvPr>
          <p:cNvSpPr txBox="1"/>
          <p:nvPr/>
        </p:nvSpPr>
        <p:spPr>
          <a:xfrm>
            <a:off x="3302000" y="1397000"/>
            <a:ext cx="1905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589C66"/>
                </a:solidFill>
                <a:latin typeface="Aptos" panose="020B0004020202020204" pitchFamily="34" charset="0"/>
              </a:rPr>
              <a:t>0,817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19E0124-E3B6-B457-528D-FC34A4D948CA}"/>
              </a:ext>
            </a:extLst>
          </p:cNvPr>
          <p:cNvSpPr txBox="1"/>
          <p:nvPr/>
        </p:nvSpPr>
        <p:spPr>
          <a:xfrm>
            <a:off x="3302000" y="1905000"/>
            <a:ext cx="1905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R² regressão múltipla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27942D-5FE2-E8B0-7491-C7774AF19DAD}"/>
              </a:ext>
            </a:extLst>
          </p:cNvPr>
          <p:cNvSpPr txBox="1"/>
          <p:nvPr/>
        </p:nvSpPr>
        <p:spPr>
          <a:xfrm>
            <a:off x="762000" y="2921000"/>
            <a:ext cx="4572000" cy="202106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Modelo simples: GrLivArea -&gt; SalePrice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Modelo múltiplo: top 10 features por correlação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TotalSF e TotalBathrooms entraram entre os principais preditores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Métricas usadas: MAE, RMSE e R²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0F9257D-4228-4674-DCB4-0C757D9C6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597" y="1427867"/>
            <a:ext cx="6104331" cy="202106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DAF79EB-ABE7-300B-18E3-E9C8FE00F1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738" y="3979106"/>
            <a:ext cx="6498190" cy="251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1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64CA704-C171-86CB-9D5F-463DE2709505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9CA5D1-2457-7963-2B08-C1409DB26517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Classificação: Casa Cara ou Barata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20E6B4-61D3-206A-BCA2-B12989F79726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>
                <a:solidFill>
                  <a:srgbClr val="FFFFFF"/>
                </a:solidFill>
                <a:latin typeface="Aptos" panose="020B0004020202020204" pitchFamily="34" charset="0"/>
              </a:rPr>
              <a:t>Emanuel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55E293-F950-D81D-06D0-AA4686D8D508}"/>
              </a:ext>
            </a:extLst>
          </p:cNvPr>
          <p:cNvSpPr txBox="1"/>
          <p:nvPr/>
        </p:nvSpPr>
        <p:spPr>
          <a:xfrm>
            <a:off x="762000" y="1206500"/>
            <a:ext cx="4953000" cy="269817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SalePrice convertido em classe binária pela mediana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0 = abaixo da mediana; 1 = acima da mediana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Modelos: Regressão Logística e Random Forest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>
                <a:solidFill>
                  <a:srgbClr val="1E2227"/>
                </a:solidFill>
                <a:latin typeface="Aptos" panose="020B0004020202020204" pitchFamily="34" charset="0"/>
              </a:rPr>
              <a:t>Métricas: Accuracy, Precision, Recall, F1 e matriz de confusão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B7AE0BF-A906-CFBA-CE7E-839B37655991}"/>
              </a:ext>
            </a:extLst>
          </p:cNvPr>
          <p:cNvSpPr/>
          <p:nvPr/>
        </p:nvSpPr>
        <p:spPr>
          <a:xfrm>
            <a:off x="889000" y="4381500"/>
            <a:ext cx="2222500" cy="11684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78AC0B-BBB4-CC99-C856-AD8B02D0E69D}"/>
              </a:ext>
            </a:extLst>
          </p:cNvPr>
          <p:cNvSpPr txBox="1"/>
          <p:nvPr/>
        </p:nvSpPr>
        <p:spPr>
          <a:xfrm>
            <a:off x="1016000" y="4508500"/>
            <a:ext cx="19685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268984"/>
                </a:solidFill>
                <a:latin typeface="Aptos" panose="020B0004020202020204" pitchFamily="34" charset="0"/>
              </a:rPr>
              <a:t>92,1%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189EA9-8AA4-8D77-A7D1-D9BC34FFF319}"/>
              </a:ext>
            </a:extLst>
          </p:cNvPr>
          <p:cNvSpPr txBox="1"/>
          <p:nvPr/>
        </p:nvSpPr>
        <p:spPr>
          <a:xfrm>
            <a:off x="1016000" y="5016500"/>
            <a:ext cx="19685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Accuracy Reg. Logística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CEDB81D-EFE1-0A63-6FFB-28123FDB441F}"/>
              </a:ext>
            </a:extLst>
          </p:cNvPr>
          <p:cNvSpPr/>
          <p:nvPr/>
        </p:nvSpPr>
        <p:spPr>
          <a:xfrm>
            <a:off x="3429000" y="4381500"/>
            <a:ext cx="2222500" cy="1168400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583DF0F-DDEE-7832-CB09-ECD9739CCBEF}"/>
              </a:ext>
            </a:extLst>
          </p:cNvPr>
          <p:cNvSpPr txBox="1"/>
          <p:nvPr/>
        </p:nvSpPr>
        <p:spPr>
          <a:xfrm>
            <a:off x="3556000" y="4508500"/>
            <a:ext cx="19685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589C66"/>
                </a:solidFill>
                <a:latin typeface="Aptos" panose="020B0004020202020204" pitchFamily="34" charset="0"/>
              </a:rPr>
              <a:t>0,922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1F751E-DF79-3F85-5F7B-001064E62EF0}"/>
              </a:ext>
            </a:extLst>
          </p:cNvPr>
          <p:cNvSpPr txBox="1"/>
          <p:nvPr/>
        </p:nvSpPr>
        <p:spPr>
          <a:xfrm>
            <a:off x="3556000" y="5016500"/>
            <a:ext cx="19685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F1 Reg. Logística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4B1A0A8-47F4-5C14-F9F5-BA1EFAF84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017" y="1140456"/>
            <a:ext cx="5967207" cy="242859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BC509A5-A72D-1B9D-CFD1-15AAFC225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126" y="4020532"/>
            <a:ext cx="5744098" cy="249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79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7CFAFA0-13C5-16E8-61F1-9D1CFC67260E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8DDE1AC-1C72-7A0C-8E25-B73B32FA2CB5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Clusterização e Redução de Dimensionalidade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3594372-9B86-E677-A276-B7ED189F9269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>
                <a:solidFill>
                  <a:srgbClr val="FFFFFF"/>
                </a:solidFill>
                <a:latin typeface="Aptos" panose="020B0004020202020204" pitchFamily="34" charset="0"/>
              </a:rPr>
              <a:t>Rogeres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F858D3-439F-302E-CED9-AA66344937F0}"/>
              </a:ext>
            </a:extLst>
          </p:cNvPr>
          <p:cNvSpPr txBox="1"/>
          <p:nvPr/>
        </p:nvSpPr>
        <p:spPr>
          <a:xfrm>
            <a:off x="635000" y="1168400"/>
            <a:ext cx="4953000" cy="267765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K-Means para encontrar perfis de imóveis sem usar o preço no treino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Elbow Method apoiou a escolha de k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PCA e t-SNE usados para visualização em 2D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PCA explicou 29,5% da variância nas duas primeiras componentes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Silhouette Score: 0,1520, positivo mas com sobreposição natural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9E817C-82F3-E527-47B0-3706827B9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514" y="844394"/>
            <a:ext cx="4807468" cy="285616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65D44F0-CEFE-2BD6-BEC2-8A80C8BFA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757" y="4002049"/>
            <a:ext cx="4808225" cy="285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9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2DF8D2-5BB6-DD74-51C6-CDF24F366299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E88E0A-B65B-86F3-FCC5-A5CA59DF2EE2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Associação e Outliers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2122A82-5685-07F7-16D6-AF3C96C26851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>
                <a:solidFill>
                  <a:srgbClr val="FFFFFF"/>
                </a:solidFill>
                <a:latin typeface="Aptos" panose="020B0004020202020204" pitchFamily="34" charset="0"/>
              </a:rPr>
              <a:t>Alessandro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40E915-8F94-431A-14FF-08D3448961EB}"/>
              </a:ext>
            </a:extLst>
          </p:cNvPr>
          <p:cNvSpPr txBox="1"/>
          <p:nvPr/>
        </p:nvSpPr>
        <p:spPr>
          <a:xfrm>
            <a:off x="698500" y="1168400"/>
            <a:ext cx="5016500" cy="295465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Apriori exigiu binarização das variáveis em tags interpretáveis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Regras avaliadas por suporte, confiança e lift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Associações fortes envolveram casas grandes, bairros premium e garagens maiores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LOF identificou 73 outliers, cerca de 5% da base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pt-BR">
                <a:solidFill>
                  <a:srgbClr val="1E2227"/>
                </a:solidFill>
                <a:latin typeface="Aptos" panose="020B0004020202020204" pitchFamily="34" charset="0"/>
              </a:rPr>
              <a:t>Outliers ajudam a entender casos extremos que podem distorcer modelos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2E2C14E-2B0B-968B-1A76-F06400ABE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448" y="858262"/>
            <a:ext cx="4015403" cy="298585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C9BBE2C-BA56-078E-409D-242DC37B2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494" y="3844119"/>
            <a:ext cx="4019358" cy="298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047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5732E3D-5905-25F5-1198-639F63DA31C2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EFA7C8-1DA6-9CC7-6EDE-E0E07C1EF11E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Visualização e Storytelling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DB34C3-7EDD-8068-7F0D-A316BAA38636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>
                <a:solidFill>
                  <a:srgbClr val="FFFFFF"/>
                </a:solidFill>
                <a:latin typeface="Aptos" panose="020B0004020202020204" pitchFamily="34" charset="0"/>
              </a:rPr>
              <a:t>Natalia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43507D2-C49F-B865-5D8B-5B2EA28FDECA}"/>
              </a:ext>
            </a:extLst>
          </p:cNvPr>
          <p:cNvSpPr txBox="1"/>
          <p:nvPr/>
        </p:nvSpPr>
        <p:spPr>
          <a:xfrm>
            <a:off x="578574" y="1273931"/>
            <a:ext cx="4222026" cy="269817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 dirty="0">
                <a:solidFill>
                  <a:srgbClr val="1E2227"/>
                </a:solidFill>
                <a:latin typeface="Aptos" panose="020B0004020202020204" pitchFamily="34" charset="0"/>
              </a:rPr>
              <a:t>Distribuições mostram assimetria à direita em </a:t>
            </a:r>
            <a:r>
              <a:rPr lang="pt-BR" sz="1900" dirty="0" err="1">
                <a:solidFill>
                  <a:srgbClr val="1E2227"/>
                </a:solidFill>
                <a:latin typeface="Aptos" panose="020B0004020202020204" pitchFamily="34" charset="0"/>
              </a:rPr>
              <a:t>SalePrice</a:t>
            </a:r>
            <a:endParaRPr lang="pt-BR" sz="1900" dirty="0">
              <a:solidFill>
                <a:srgbClr val="1E2227"/>
              </a:solidFill>
              <a:latin typeface="Aptos" panose="020B0004020202020204" pitchFamily="34" charset="0"/>
            </a:endParaRP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 dirty="0" err="1">
                <a:solidFill>
                  <a:srgbClr val="1E2227"/>
                </a:solidFill>
                <a:latin typeface="Aptos" panose="020B0004020202020204" pitchFamily="34" charset="0"/>
              </a:rPr>
              <a:t>Heatmap</a:t>
            </a:r>
            <a:r>
              <a:rPr lang="pt-BR" sz="1900" dirty="0">
                <a:solidFill>
                  <a:srgbClr val="1E2227"/>
                </a:solidFill>
                <a:latin typeface="Aptos" panose="020B0004020202020204" pitchFamily="34" charset="0"/>
              </a:rPr>
              <a:t> confirma variáveis mais ligadas ao preço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 dirty="0" err="1">
                <a:solidFill>
                  <a:srgbClr val="1E2227"/>
                </a:solidFill>
                <a:latin typeface="Aptos" panose="020B0004020202020204" pitchFamily="34" charset="0"/>
              </a:rPr>
              <a:t>Scatter</a:t>
            </a:r>
            <a:r>
              <a:rPr lang="pt-BR" sz="1900" dirty="0">
                <a:solidFill>
                  <a:srgbClr val="1E2227"/>
                </a:solidFill>
                <a:latin typeface="Aptos" panose="020B0004020202020204" pitchFamily="34" charset="0"/>
              </a:rPr>
              <a:t> e </a:t>
            </a:r>
            <a:r>
              <a:rPr lang="pt-BR" sz="1900" dirty="0" err="1">
                <a:solidFill>
                  <a:srgbClr val="1E2227"/>
                </a:solidFill>
                <a:latin typeface="Aptos" panose="020B0004020202020204" pitchFamily="34" charset="0"/>
              </a:rPr>
              <a:t>boxplot</a:t>
            </a:r>
            <a:r>
              <a:rPr lang="pt-BR" sz="1900" dirty="0">
                <a:solidFill>
                  <a:srgbClr val="1E2227"/>
                </a:solidFill>
                <a:latin typeface="Aptos" panose="020B0004020202020204" pitchFamily="34" charset="0"/>
              </a:rPr>
              <a:t> reforçam impacto de área e qualidade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1900" dirty="0">
                <a:solidFill>
                  <a:srgbClr val="1E2227"/>
                </a:solidFill>
                <a:latin typeface="Aptos" panose="020B0004020202020204" pitchFamily="34" charset="0"/>
              </a:rPr>
              <a:t>Painel consolidado transforma métricas em narrativa analítica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9EF315-EACB-64C8-306F-A96D79F30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122" y="1423763"/>
            <a:ext cx="7008858" cy="450187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792805E-A64C-2DB5-892E-10963FAC86B6}"/>
              </a:ext>
            </a:extLst>
          </p:cNvPr>
          <p:cNvSpPr txBox="1"/>
          <p:nvPr/>
        </p:nvSpPr>
        <p:spPr>
          <a:xfrm>
            <a:off x="992432" y="4509437"/>
            <a:ext cx="3394309" cy="128240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pt-BR" sz="2000" b="1" dirty="0">
                <a:solidFill>
                  <a:srgbClr val="162B3A"/>
                </a:solidFill>
                <a:latin typeface="Aptos" panose="020B0004020202020204" pitchFamily="34" charset="0"/>
              </a:rPr>
              <a:t>Mensagem visual: preço é resultado da combinação entre tamanho, qualidade, estrutura e idade do imóvel.</a:t>
            </a:r>
          </a:p>
        </p:txBody>
      </p:sp>
    </p:spTree>
    <p:extLst>
      <p:ext uri="{BB962C8B-B14F-4D97-AF65-F5344CB8AC3E}">
        <p14:creationId xmlns:p14="http://schemas.microsoft.com/office/powerpoint/2010/main" val="295935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EF6C5D-7C5F-B289-7152-B5882C2CD823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1D73A9-E51B-AF8F-7D64-6F4D909A21AF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Conclusões Principais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1D6FFE-92E2-FA8A-938D-8D163BC2CA0E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 dirty="0">
                <a:solidFill>
                  <a:srgbClr val="FFFFFF"/>
                </a:solidFill>
                <a:latin typeface="Aptos" panose="020B0004020202020204" pitchFamily="34" charset="0"/>
              </a:rPr>
              <a:t>Fechamento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295187D-078B-615F-C120-5D5283A19FD5}"/>
              </a:ext>
            </a:extLst>
          </p:cNvPr>
          <p:cNvSpPr/>
          <p:nvPr/>
        </p:nvSpPr>
        <p:spPr>
          <a:xfrm>
            <a:off x="825500" y="1206500"/>
            <a:ext cx="2413000" cy="1076432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BDD151-532D-89BB-2C8B-4A31CA36C02D}"/>
              </a:ext>
            </a:extLst>
          </p:cNvPr>
          <p:cNvSpPr txBox="1"/>
          <p:nvPr/>
        </p:nvSpPr>
        <p:spPr>
          <a:xfrm>
            <a:off x="952500" y="1333500"/>
            <a:ext cx="2159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268984"/>
                </a:solidFill>
                <a:latin typeface="Aptos" panose="020B0004020202020204" pitchFamily="34" charset="0"/>
              </a:rPr>
              <a:t>1458 x 298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AFDBC7-5D90-ECD4-8B20-5D08BAC868CE}"/>
              </a:ext>
            </a:extLst>
          </p:cNvPr>
          <p:cNvSpPr txBox="1"/>
          <p:nvPr/>
        </p:nvSpPr>
        <p:spPr>
          <a:xfrm>
            <a:off x="952500" y="1841500"/>
            <a:ext cx="215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base final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D045D4-6503-99E4-3750-63EEF5E771FD}"/>
              </a:ext>
            </a:extLst>
          </p:cNvPr>
          <p:cNvSpPr/>
          <p:nvPr/>
        </p:nvSpPr>
        <p:spPr>
          <a:xfrm>
            <a:off x="3619500" y="1206500"/>
            <a:ext cx="2159000" cy="1076432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24ADBF-8A88-BCC6-2038-9249B6BABB40}"/>
              </a:ext>
            </a:extLst>
          </p:cNvPr>
          <p:cNvSpPr txBox="1"/>
          <p:nvPr/>
        </p:nvSpPr>
        <p:spPr>
          <a:xfrm>
            <a:off x="3746500" y="1333500"/>
            <a:ext cx="1905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589C66"/>
                </a:solidFill>
                <a:latin typeface="Aptos" panose="020B0004020202020204" pitchFamily="34" charset="0"/>
              </a:rPr>
              <a:t>0,817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E97458F-1C31-6596-8894-23B1AB9EBE46}"/>
              </a:ext>
            </a:extLst>
          </p:cNvPr>
          <p:cNvSpPr txBox="1"/>
          <p:nvPr/>
        </p:nvSpPr>
        <p:spPr>
          <a:xfrm>
            <a:off x="3746500" y="1841500"/>
            <a:ext cx="1905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R² regressão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C21A6AF-4650-1548-B61F-58E3875671EF}"/>
              </a:ext>
            </a:extLst>
          </p:cNvPr>
          <p:cNvSpPr/>
          <p:nvPr/>
        </p:nvSpPr>
        <p:spPr>
          <a:xfrm>
            <a:off x="6159500" y="1206500"/>
            <a:ext cx="2413000" cy="1076432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5F41B87-9F9B-943C-DD19-F665AEA04922}"/>
              </a:ext>
            </a:extLst>
          </p:cNvPr>
          <p:cNvSpPr txBox="1"/>
          <p:nvPr/>
        </p:nvSpPr>
        <p:spPr>
          <a:xfrm>
            <a:off x="6286500" y="1333500"/>
            <a:ext cx="2159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E87E42"/>
                </a:solidFill>
                <a:latin typeface="Aptos" panose="020B0004020202020204" pitchFamily="34" charset="0"/>
              </a:rPr>
              <a:t>92,1%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2B2E8CA-139E-B2B4-0DAF-1381B904DA7D}"/>
              </a:ext>
            </a:extLst>
          </p:cNvPr>
          <p:cNvSpPr txBox="1"/>
          <p:nvPr/>
        </p:nvSpPr>
        <p:spPr>
          <a:xfrm>
            <a:off x="6286500" y="1841500"/>
            <a:ext cx="2159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accuracy classificação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60EBBE1-EF27-FFBE-F453-D894739EA2B3}"/>
              </a:ext>
            </a:extLst>
          </p:cNvPr>
          <p:cNvSpPr/>
          <p:nvPr/>
        </p:nvSpPr>
        <p:spPr>
          <a:xfrm>
            <a:off x="8953500" y="1206500"/>
            <a:ext cx="1905000" cy="1076432"/>
          </a:xfrm>
          <a:prstGeom prst="rect">
            <a:avLst/>
          </a:prstGeom>
          <a:solidFill>
            <a:srgbClr val="F6F8FA"/>
          </a:solidFill>
          <a:ln>
            <a:solidFill>
              <a:srgbClr val="DC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08B09E6-7817-6446-4BEB-4B8315A4121F}"/>
              </a:ext>
            </a:extLst>
          </p:cNvPr>
          <p:cNvSpPr txBox="1"/>
          <p:nvPr/>
        </p:nvSpPr>
        <p:spPr>
          <a:xfrm>
            <a:off x="9080500" y="1333500"/>
            <a:ext cx="1651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2600" b="1">
                <a:solidFill>
                  <a:srgbClr val="268984"/>
                </a:solidFill>
                <a:latin typeface="Aptos" panose="020B0004020202020204" pitchFamily="34" charset="0"/>
              </a:rPr>
              <a:t>73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7B1463-ADE3-FADD-9C01-0857E79E0846}"/>
              </a:ext>
            </a:extLst>
          </p:cNvPr>
          <p:cNvSpPr txBox="1"/>
          <p:nvPr/>
        </p:nvSpPr>
        <p:spPr>
          <a:xfrm>
            <a:off x="9080500" y="1841500"/>
            <a:ext cx="16510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1300">
                <a:solidFill>
                  <a:srgbClr val="585F69"/>
                </a:solidFill>
                <a:latin typeface="Aptos" panose="020B0004020202020204" pitchFamily="34" charset="0"/>
              </a:rPr>
              <a:t>outliers LOF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C7C72F4-8134-203E-51F7-DA1754D42944}"/>
              </a:ext>
            </a:extLst>
          </p:cNvPr>
          <p:cNvSpPr txBox="1"/>
          <p:nvPr/>
        </p:nvSpPr>
        <p:spPr>
          <a:xfrm>
            <a:off x="1333500" y="3175000"/>
            <a:ext cx="9525000" cy="230832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2000">
                <a:solidFill>
                  <a:srgbClr val="1E2227"/>
                </a:solidFill>
                <a:latin typeface="Aptos" panose="020B0004020202020204" pitchFamily="34" charset="0"/>
              </a:rPr>
              <a:t>O preço não depende de uma única variável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2000">
                <a:solidFill>
                  <a:srgbClr val="1E2227"/>
                </a:solidFill>
                <a:latin typeface="Aptos" panose="020B0004020202020204" pitchFamily="34" charset="0"/>
              </a:rPr>
              <a:t>Qualidade geral, área total, área habitável, banheiros, garagem e idade são sinais centrais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2000">
                <a:solidFill>
                  <a:srgbClr val="1E2227"/>
                </a:solidFill>
                <a:latin typeface="Aptos" panose="020B0004020202020204" pitchFamily="34" charset="0"/>
              </a:rPr>
              <a:t>Feature engineering melhorou a interpretação e alimentou melhor os modelos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2000">
                <a:solidFill>
                  <a:srgbClr val="1E2227"/>
                </a:solidFill>
                <a:latin typeface="Aptos" panose="020B0004020202020204" pitchFamily="34" charset="0"/>
              </a:rPr>
              <a:t>Modelos supervisionados tiveram forte poder preditivo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pt-BR" sz="2000">
                <a:solidFill>
                  <a:srgbClr val="1E2227"/>
                </a:solidFill>
                <a:latin typeface="Aptos" panose="020B0004020202020204" pitchFamily="34" charset="0"/>
              </a:rPr>
              <a:t>Modelos não supervisionados revelaram perfis e anomalias úteis</a:t>
            </a:r>
          </a:p>
        </p:txBody>
      </p:sp>
    </p:spTree>
    <p:extLst>
      <p:ext uri="{BB962C8B-B14F-4D97-AF65-F5344CB8AC3E}">
        <p14:creationId xmlns:p14="http://schemas.microsoft.com/office/powerpoint/2010/main" val="62101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DCA2407-2E4F-BBEF-CFAD-F9B37817F0A8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62B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D5D3DC-9B8B-B7D0-4A77-2D65B68E46FD}"/>
              </a:ext>
            </a:extLst>
          </p:cNvPr>
          <p:cNvSpPr txBox="1"/>
          <p:nvPr/>
        </p:nvSpPr>
        <p:spPr>
          <a:xfrm>
            <a:off x="355600" y="127000"/>
            <a:ext cx="8890000" cy="42062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pt-BR" sz="2400" b="1">
                <a:solidFill>
                  <a:srgbClr val="FFFFFF"/>
                </a:solidFill>
                <a:latin typeface="Aptos" panose="020B0004020202020204" pitchFamily="34" charset="0"/>
              </a:rPr>
              <a:t>Perguntas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52D207-FD63-BF43-CBF6-A5A8F1319081}"/>
              </a:ext>
            </a:extLst>
          </p:cNvPr>
          <p:cNvSpPr txBox="1"/>
          <p:nvPr/>
        </p:nvSpPr>
        <p:spPr>
          <a:xfrm>
            <a:off x="8890000" y="190500"/>
            <a:ext cx="2946400" cy="235962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r"/>
            <a:r>
              <a:rPr lang="pt-BR" sz="1200" dirty="0">
                <a:solidFill>
                  <a:srgbClr val="FFFFFF"/>
                </a:solidFill>
                <a:latin typeface="Aptos" panose="020B0004020202020204" pitchFamily="34" charset="0"/>
              </a:rPr>
              <a:t>Fim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54E42B-905A-4590-C6E4-37832EC9EE8F}"/>
              </a:ext>
            </a:extLst>
          </p:cNvPr>
          <p:cNvSpPr txBox="1"/>
          <p:nvPr/>
        </p:nvSpPr>
        <p:spPr>
          <a:xfrm>
            <a:off x="703017" y="3064797"/>
            <a:ext cx="10160000" cy="72840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pPr algn="ctr"/>
            <a:r>
              <a:rPr lang="pt-BR" sz="4400" b="1" dirty="0">
                <a:solidFill>
                  <a:srgbClr val="162B3A"/>
                </a:solidFill>
                <a:latin typeface="Aptos" panose="020B0004020202020204" pitchFamily="34" charset="0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1757100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911</Words>
  <Application>Microsoft Office PowerPoint</Application>
  <PresentationFormat>Widescreen</PresentationFormat>
  <Paragraphs>140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 Dornela Mascarenhas</dc:creator>
  <cp:lastModifiedBy>Vitor Dornela Mascarenhas</cp:lastModifiedBy>
  <cp:revision>2</cp:revision>
  <dcterms:created xsi:type="dcterms:W3CDTF">2026-06-17T16:36:39Z</dcterms:created>
  <dcterms:modified xsi:type="dcterms:W3CDTF">2026-06-17T16:47:37Z</dcterms:modified>
</cp:coreProperties>
</file>