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FAF916-7DF5-44F7-B041-D31F93773F13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86C5D-8289-43D5-BEF5-015B367EF2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664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Vitor abre com a pergunta central: quais características ajudam a explicar e prever o preço das casas?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6233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Explicar que a fala é dividida por etapa, mas a narrativa é única.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89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Fazer a ponte para a limpeza e preparação dos dados.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4856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Vitor: enfatizar que a análise começa entendendo distribuição, nulos, outliers e relações iniciais.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6443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Explicar que as novas features aproximam o dataset da lógica imobiliária.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0233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Luis Felipe: explicar que múltiplas variáveis capturam muito mais do que apenas área habitável.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7113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Emanuel: destacar que as classes ficaram balanceadas e os modelos performaram bem.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20731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Rogeres: ressaltar que PCA é visualização, não substitui a base completa.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1590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Alessandro: conectar Apriori e LOF com interpretação de padrões e anomalias.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2128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Natalia: explicar que esse slide responde diretamente ao feedback da avaliação: faltavam gráficos dos modelos no notebook 06.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86047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Natalia: reforçar que visualização é usada para guiar o leitor, não apenas ilustrar.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6641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Fechamento: mencionar que a última rodada de ajustes mira exatamente os descontos da avaliação: visualização e storytelling.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2753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Backup: explicar PCA como visualização, SalePrice fora do treino dos clusters e importância do feature engineering.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481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E84ED8-9D86-946D-C357-FC64D4C3E6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E5DF886-0762-5955-7D9E-9FC050E2D8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6E9AE8-A548-31B0-0969-09CA42851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FE2352-9C36-80FF-9D4A-24E1801F7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2839F0-C348-6309-476C-612DC1551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8712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90FD8F-CC5E-D948-979F-D7AB0460B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039817-EC1B-9CD3-9CC6-AA633579D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979C0D-9204-B7FC-CFF3-82BBC46E3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B1282B-7D20-509D-72AF-ADF1404FC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C17D56-9541-665F-977D-901C17506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7507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E902C5-D081-A01B-2AAE-CB26225D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BA66425-1213-4E58-46AA-E7FB91D1E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8DDB37-D9CC-6FD7-2FC6-750B9DF9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997000-C236-7DCB-DD2C-D698BE4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E9FA03-5246-9D96-5F43-3630327F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287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303B9B-6608-31DD-870B-83C25AAB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C21603-3B37-B207-3965-503715B11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68862C-FBA8-5E8B-121C-A098180FB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93D396-93D5-27AE-CB28-47B725D7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1793123-ACE7-5F17-B1A7-75E9AE4FD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100AD5-72E5-DB2E-C48D-B5A5118AA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5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76112-2702-865E-E62A-9AE19850B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1891F6A-F381-3BAA-2CE2-1A6AD8841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C6B67A7-B491-8F85-09B1-545670554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A996AA9-1086-BB78-8BB7-3F1FE2C60B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E593297-F125-2BA4-8745-BCEAAC428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D29276-0084-164C-A4EE-30FB1F73B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A72AAC4-63FD-A3AD-0C73-2828EE13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30CD597-60AB-86C3-8226-CF63D5B53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5511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75ACB-52A5-423F-8BB3-DF2EC9596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F410677-B4B9-F080-24E7-6E21048F0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A9ECE8A-E640-86C0-87CD-434C18766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9FD8E92-FFE9-16EA-2F59-39474E86E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558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A20BF20-F6E7-0DBB-E608-FD3A7D691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AB813F2-924D-771C-7139-75873342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22CFAC8-1D2A-5754-070D-82615926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751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7D0632-6C53-5EC5-D7DC-F88173E66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4C9202-4576-D5CB-1A3E-97CABE1B2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45C719-F053-A2D4-747E-AFDDC4B03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8FFB6EC-1824-E892-B286-3EA6301AE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941B5A5-A8B2-CE08-9E4F-186B9B744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21FAE4-ECB4-3948-38C5-4D13F05BB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765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B60A3B-BB9D-CC24-8483-58AD1CF1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365A430-066A-FAF2-C142-5A86A68C65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A42F790-8778-8613-D981-AF0EB9BD4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125C3A9-B95D-BAE6-67DF-8D170126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04B85F5-603A-4834-2836-2CAA1092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8997FA-4714-2A98-151F-57EEE9A44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4196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3C635F-8FE5-6900-94C3-76DC1D38A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C8FADEB-CE0F-6BDA-CC7A-10FDFB6D7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7A5EFD-ED49-1E3D-BB49-ADB574739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65E0A9-8FF2-B19F-ADC2-E9AF18170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7C3DAA-602F-F06F-6820-4EC3D1FB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52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540E9C2-35A7-8B63-50E2-B50AA0E108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21C6C55-27E7-878D-62EF-3B655C8D2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11D382-6E18-9362-536F-EB5507C62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BC8AE64-8C0B-AC73-77E8-BF7F143CF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B39271-DF1B-9F88-A54E-1D29848CB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6046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F6ED92F-44F6-1616-0B03-5F4D6F944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0C40325-F41A-3C65-38F2-75C60FE99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E24413-6CDC-3A46-F1D1-EDE7C25F78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47499E-A39B-CEB5-FC1E-C162F1D948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712D2E0-E284-1E01-9E3F-66A94A3E3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4743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CBE437C-60F5-EC3F-EFDA-FA95CCC79DF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D4A126F-7BB6-6390-003B-25AD03D941A0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Aptos" panose="020B0004020202020204" pitchFamily="34" charset="0"/>
              </a:rPr>
              <a:t>House Prices: Data Analysis &amp; Machine Learning</a:t>
            </a:r>
            <a:endParaRPr lang="pt-BR" sz="24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6DF02D-2DA3-5CDB-DDFC-5455FAAF0740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10-15 min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D6023A8-FF38-597D-AD2B-3A2C4B41BC6A}"/>
              </a:ext>
            </a:extLst>
          </p:cNvPr>
          <p:cNvSpPr txBox="1"/>
          <p:nvPr/>
        </p:nvSpPr>
        <p:spPr>
          <a:xfrm>
            <a:off x="1016000" y="1549400"/>
            <a:ext cx="10160000" cy="85151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600" b="1">
                <a:solidFill>
                  <a:srgbClr val="162B3A"/>
                </a:solidFill>
                <a:latin typeface="Aptos" panose="020B0004020202020204" pitchFamily="34" charset="0"/>
              </a:rPr>
              <a:t>Análise de preços de casas nos EUA usando EDA, feature engineering, modelos supervisionados e não supervisionados.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416C9AD-9328-03D9-AE2A-462A1D3F8402}"/>
              </a:ext>
            </a:extLst>
          </p:cNvPr>
          <p:cNvSpPr/>
          <p:nvPr/>
        </p:nvSpPr>
        <p:spPr>
          <a:xfrm>
            <a:off x="1333500" y="3302000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638C45A-CFBB-1177-7265-8F5A243D835E}"/>
              </a:ext>
            </a:extLst>
          </p:cNvPr>
          <p:cNvSpPr txBox="1"/>
          <p:nvPr/>
        </p:nvSpPr>
        <p:spPr>
          <a:xfrm>
            <a:off x="14605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1458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B74B013-C7C3-A3FB-71A2-F6DB3819AFF6}"/>
              </a:ext>
            </a:extLst>
          </p:cNvPr>
          <p:cNvSpPr txBox="1"/>
          <p:nvPr/>
        </p:nvSpPr>
        <p:spPr>
          <a:xfrm>
            <a:off x="14605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registros após tratamento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F2D3D3C-77CE-0466-B21A-4CA0C76545C4}"/>
              </a:ext>
            </a:extLst>
          </p:cNvPr>
          <p:cNvSpPr/>
          <p:nvPr/>
        </p:nvSpPr>
        <p:spPr>
          <a:xfrm>
            <a:off x="3810000" y="3302000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33D2C1-E9E9-D5FF-A2CD-6C7EF119E32F}"/>
              </a:ext>
            </a:extLst>
          </p:cNvPr>
          <p:cNvSpPr txBox="1"/>
          <p:nvPr/>
        </p:nvSpPr>
        <p:spPr>
          <a:xfrm>
            <a:off x="39370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E87E42"/>
                </a:solidFill>
                <a:latin typeface="Aptos" panose="020B0004020202020204" pitchFamily="34" charset="0"/>
              </a:rPr>
              <a:t>298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8B8BA93-89D0-097A-4CD9-DB2CFA3778C3}"/>
              </a:ext>
            </a:extLst>
          </p:cNvPr>
          <p:cNvSpPr txBox="1"/>
          <p:nvPr/>
        </p:nvSpPr>
        <p:spPr>
          <a:xfrm>
            <a:off x="39370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features processadas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D14F07B-7BA0-219C-A32C-5D8B0780EFED}"/>
              </a:ext>
            </a:extLst>
          </p:cNvPr>
          <p:cNvSpPr/>
          <p:nvPr/>
        </p:nvSpPr>
        <p:spPr>
          <a:xfrm>
            <a:off x="6286500" y="3302000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51F9764-6622-9E11-D2B4-EC0977FAF20B}"/>
              </a:ext>
            </a:extLst>
          </p:cNvPr>
          <p:cNvSpPr txBox="1"/>
          <p:nvPr/>
        </p:nvSpPr>
        <p:spPr>
          <a:xfrm>
            <a:off x="64135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0,817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5BFD44E-7B79-5DA8-975F-C1DADB15C733}"/>
              </a:ext>
            </a:extLst>
          </p:cNvPr>
          <p:cNvSpPr txBox="1"/>
          <p:nvPr/>
        </p:nvSpPr>
        <p:spPr>
          <a:xfrm>
            <a:off x="64135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 múltipla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224564D-AA83-DFC4-22D0-3DEED849263B}"/>
              </a:ext>
            </a:extLst>
          </p:cNvPr>
          <p:cNvSpPr/>
          <p:nvPr/>
        </p:nvSpPr>
        <p:spPr>
          <a:xfrm>
            <a:off x="8763000" y="3302000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58C0EDB-5185-422C-2878-C368BC7EE33D}"/>
              </a:ext>
            </a:extLst>
          </p:cNvPr>
          <p:cNvSpPr txBox="1"/>
          <p:nvPr/>
        </p:nvSpPr>
        <p:spPr>
          <a:xfrm>
            <a:off x="88900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92,1%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C2B8998-5F64-7144-66EC-3C3A6748F866}"/>
              </a:ext>
            </a:extLst>
          </p:cNvPr>
          <p:cNvSpPr txBox="1"/>
          <p:nvPr/>
        </p:nvSpPr>
        <p:spPr>
          <a:xfrm>
            <a:off x="88900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acurácia classificação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E5B4DF0-BEB5-26EE-4647-EA1760FD7B6A}"/>
              </a:ext>
            </a:extLst>
          </p:cNvPr>
          <p:cNvSpPr txBox="1"/>
          <p:nvPr/>
        </p:nvSpPr>
        <p:spPr>
          <a:xfrm>
            <a:off x="1270000" y="5524500"/>
            <a:ext cx="9652000" cy="312906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700">
                <a:solidFill>
                  <a:srgbClr val="585F69"/>
                </a:solidFill>
                <a:latin typeface="Aptos" panose="020B0004020202020204" pitchFamily="34" charset="0"/>
              </a:rPr>
              <a:t>Grupo: Vitor, Luis Felipe, Emanuel, Rogeres, Alessandro e Natalia</a:t>
            </a:r>
          </a:p>
        </p:txBody>
      </p:sp>
    </p:spTree>
    <p:extLst>
      <p:ext uri="{BB962C8B-B14F-4D97-AF65-F5344CB8AC3E}">
        <p14:creationId xmlns:p14="http://schemas.microsoft.com/office/powerpoint/2010/main" val="691252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4FF5FFE-BA67-1227-5324-9A592F35E26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CDD47F0-7332-CC8C-F200-9705569AACC5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Divisão do Grupo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27C53FF-AEC2-C046-2165-959DF90B50E0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responsabilidades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892BC7C-AB37-68D2-8BCA-35D81E940759}"/>
              </a:ext>
            </a:extLst>
          </p:cNvPr>
          <p:cNvSpPr/>
          <p:nvPr/>
        </p:nvSpPr>
        <p:spPr>
          <a:xfrm>
            <a:off x="1016000" y="13335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53B93FB-901F-A2C5-C6AF-BB44750C1A20}"/>
              </a:ext>
            </a:extLst>
          </p:cNvPr>
          <p:cNvSpPr txBox="1"/>
          <p:nvPr/>
        </p:nvSpPr>
        <p:spPr>
          <a:xfrm>
            <a:off x="1168400" y="14351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Vitor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11AFED7-51B2-2B41-5B2E-ED1605A9D4B1}"/>
              </a:ext>
            </a:extLst>
          </p:cNvPr>
          <p:cNvSpPr txBox="1"/>
          <p:nvPr/>
        </p:nvSpPr>
        <p:spPr>
          <a:xfrm>
            <a:off x="3429000" y="14097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EDA, Feature Engineering, integração e organização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7E03430-43AB-7595-4CC5-523B12A45E15}"/>
              </a:ext>
            </a:extLst>
          </p:cNvPr>
          <p:cNvSpPr/>
          <p:nvPr/>
        </p:nvSpPr>
        <p:spPr>
          <a:xfrm>
            <a:off x="1016000" y="20701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3661205-383D-9162-B447-1631FBEE876A}"/>
              </a:ext>
            </a:extLst>
          </p:cNvPr>
          <p:cNvSpPr txBox="1"/>
          <p:nvPr/>
        </p:nvSpPr>
        <p:spPr>
          <a:xfrm>
            <a:off x="1168400" y="21717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Luis Felipe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ABEAA0-F79C-C69C-0672-10B388786688}"/>
              </a:ext>
            </a:extLst>
          </p:cNvPr>
          <p:cNvSpPr txBox="1"/>
          <p:nvPr/>
        </p:nvSpPr>
        <p:spPr>
          <a:xfrm>
            <a:off x="3429000" y="21463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Regressão linear simples e múltipla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54678ED-0346-D7BA-2614-8FB510D20D4A}"/>
              </a:ext>
            </a:extLst>
          </p:cNvPr>
          <p:cNvSpPr/>
          <p:nvPr/>
        </p:nvSpPr>
        <p:spPr>
          <a:xfrm>
            <a:off x="1016000" y="28067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C51AC7A-BA51-AF09-38FB-CB0E0896FCA4}"/>
              </a:ext>
            </a:extLst>
          </p:cNvPr>
          <p:cNvSpPr txBox="1"/>
          <p:nvPr/>
        </p:nvSpPr>
        <p:spPr>
          <a:xfrm>
            <a:off x="1168400" y="29083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Emanuel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6C133E5-C59F-2826-EC65-57FCB702B159}"/>
              </a:ext>
            </a:extLst>
          </p:cNvPr>
          <p:cNvSpPr txBox="1"/>
          <p:nvPr/>
        </p:nvSpPr>
        <p:spPr>
          <a:xfrm>
            <a:off x="3429000" y="28829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Classificação: Regressão Logística e Random Forest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F91D7A6-4516-4A42-EF7C-E2709D1935EF}"/>
              </a:ext>
            </a:extLst>
          </p:cNvPr>
          <p:cNvSpPr/>
          <p:nvPr/>
        </p:nvSpPr>
        <p:spPr>
          <a:xfrm>
            <a:off x="1016000" y="35433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67A75DB-F50B-B61D-12CF-B84272F05469}"/>
              </a:ext>
            </a:extLst>
          </p:cNvPr>
          <p:cNvSpPr txBox="1"/>
          <p:nvPr/>
        </p:nvSpPr>
        <p:spPr>
          <a:xfrm>
            <a:off x="1168400" y="36449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Rogeres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3BE06CC-EB85-A553-3455-124DA2CC2605}"/>
              </a:ext>
            </a:extLst>
          </p:cNvPr>
          <p:cNvSpPr txBox="1"/>
          <p:nvPr/>
        </p:nvSpPr>
        <p:spPr>
          <a:xfrm>
            <a:off x="3429000" y="36195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Clusterização, PCA e t-SNE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D5CE30F-E7B7-EF55-C610-ADFADE16269B}"/>
              </a:ext>
            </a:extLst>
          </p:cNvPr>
          <p:cNvSpPr/>
          <p:nvPr/>
        </p:nvSpPr>
        <p:spPr>
          <a:xfrm>
            <a:off x="1016000" y="42799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C5B7361E-B93F-1E9C-4E69-2BCA279E8C53}"/>
              </a:ext>
            </a:extLst>
          </p:cNvPr>
          <p:cNvSpPr txBox="1"/>
          <p:nvPr/>
        </p:nvSpPr>
        <p:spPr>
          <a:xfrm>
            <a:off x="1168400" y="43815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Alessandro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30AE66-7A07-BED9-4857-BDE40D679F06}"/>
              </a:ext>
            </a:extLst>
          </p:cNvPr>
          <p:cNvSpPr txBox="1"/>
          <p:nvPr/>
        </p:nvSpPr>
        <p:spPr>
          <a:xfrm>
            <a:off x="3429000" y="43561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Apriori e Local Outlier Factor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92CBA3A-8426-E6A8-5683-573922139C8B}"/>
              </a:ext>
            </a:extLst>
          </p:cNvPr>
          <p:cNvSpPr/>
          <p:nvPr/>
        </p:nvSpPr>
        <p:spPr>
          <a:xfrm>
            <a:off x="1016000" y="50165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F7DB433-4DFD-3317-EDA9-FD61F7B9353D}"/>
              </a:ext>
            </a:extLst>
          </p:cNvPr>
          <p:cNvSpPr txBox="1"/>
          <p:nvPr/>
        </p:nvSpPr>
        <p:spPr>
          <a:xfrm>
            <a:off x="1168400" y="51181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Natalia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645A50F-5D43-C11F-AB61-C64092194F93}"/>
              </a:ext>
            </a:extLst>
          </p:cNvPr>
          <p:cNvSpPr txBox="1"/>
          <p:nvPr/>
        </p:nvSpPr>
        <p:spPr>
          <a:xfrm>
            <a:off x="3429000" y="50927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Visualização de dados e storytelling</a:t>
            </a:r>
          </a:p>
        </p:txBody>
      </p:sp>
    </p:spTree>
    <p:extLst>
      <p:ext uri="{BB962C8B-B14F-4D97-AF65-F5344CB8AC3E}">
        <p14:creationId xmlns:p14="http://schemas.microsoft.com/office/powerpoint/2010/main" val="3709684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E43B046-2F93-E047-7278-519AB167B12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E52B864-F1EB-CF29-5F18-CFC75F7EB57A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Fluxo Analítico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9DCA1C4-2C2C-7E3C-09D0-9C665A3A5954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do dado bruto à conclusão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FDC7BCE-360A-58E4-D139-D5F9FF95D2E6}"/>
              </a:ext>
            </a:extLst>
          </p:cNvPr>
          <p:cNvSpPr/>
          <p:nvPr/>
        </p:nvSpPr>
        <p:spPr>
          <a:xfrm>
            <a:off x="6985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4CBEAD7-FC41-1F9B-3D65-3C24166C5489}"/>
              </a:ext>
            </a:extLst>
          </p:cNvPr>
          <p:cNvSpPr txBox="1"/>
          <p:nvPr/>
        </p:nvSpPr>
        <p:spPr>
          <a:xfrm>
            <a:off x="12065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268984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E7B29D-61C3-80B1-BACC-2DFD81F60C23}"/>
              </a:ext>
            </a:extLst>
          </p:cNvPr>
          <p:cNvSpPr txBox="1"/>
          <p:nvPr/>
        </p:nvSpPr>
        <p:spPr>
          <a:xfrm>
            <a:off x="850900" y="2794000"/>
            <a:ext cx="1346200" cy="543739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600" b="1">
                <a:solidFill>
                  <a:srgbClr val="162B3A"/>
                </a:solidFill>
                <a:latin typeface="Aptos" panose="020B0004020202020204" pitchFamily="34" charset="0"/>
              </a:rPr>
              <a:t>EDA e limpeza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724B5F3-C4B4-A92F-E56D-55FCD284CAD5}"/>
              </a:ext>
            </a:extLst>
          </p:cNvPr>
          <p:cNvSpPr/>
          <p:nvPr/>
        </p:nvSpPr>
        <p:spPr>
          <a:xfrm>
            <a:off x="25781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50942A-C0E1-F722-0CD9-151363F73FFD}"/>
              </a:ext>
            </a:extLst>
          </p:cNvPr>
          <p:cNvSpPr txBox="1"/>
          <p:nvPr/>
        </p:nvSpPr>
        <p:spPr>
          <a:xfrm>
            <a:off x="30861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E87E42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0FD4902-7D1E-CD9E-68F2-FC8C6175EEF6}"/>
              </a:ext>
            </a:extLst>
          </p:cNvPr>
          <p:cNvSpPr txBox="1"/>
          <p:nvPr/>
        </p:nvSpPr>
        <p:spPr>
          <a:xfrm>
            <a:off x="2730500" y="2794000"/>
            <a:ext cx="1346200" cy="543739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600" b="1">
                <a:solidFill>
                  <a:srgbClr val="162B3A"/>
                </a:solidFill>
                <a:latin typeface="Aptos" panose="020B0004020202020204" pitchFamily="34" charset="0"/>
              </a:rPr>
              <a:t>Feature engineering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179C70F-490E-4AC8-8CE4-35588BE6A89E}"/>
              </a:ext>
            </a:extLst>
          </p:cNvPr>
          <p:cNvSpPr/>
          <p:nvPr/>
        </p:nvSpPr>
        <p:spPr>
          <a:xfrm>
            <a:off x="44577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28167A-E296-B93B-CD92-0CD6397E3C88}"/>
              </a:ext>
            </a:extLst>
          </p:cNvPr>
          <p:cNvSpPr txBox="1"/>
          <p:nvPr/>
        </p:nvSpPr>
        <p:spPr>
          <a:xfrm>
            <a:off x="49657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589C66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AE5BCC0-00D4-6E27-411A-9B44F771ED19}"/>
              </a:ext>
            </a:extLst>
          </p:cNvPr>
          <p:cNvSpPr txBox="1"/>
          <p:nvPr/>
        </p:nvSpPr>
        <p:spPr>
          <a:xfrm>
            <a:off x="4610100" y="2794000"/>
            <a:ext cx="1346200" cy="2975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600" b="1">
                <a:solidFill>
                  <a:srgbClr val="162B3A"/>
                </a:solidFill>
                <a:latin typeface="Aptos" panose="020B0004020202020204" pitchFamily="34" charset="0"/>
              </a:rPr>
              <a:t>Regressão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5E022083-7F7B-6C95-36C0-A708671ABEB0}"/>
              </a:ext>
            </a:extLst>
          </p:cNvPr>
          <p:cNvSpPr/>
          <p:nvPr/>
        </p:nvSpPr>
        <p:spPr>
          <a:xfrm>
            <a:off x="63373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041DD05-9028-85A3-CF90-FCC76B3661C8}"/>
              </a:ext>
            </a:extLst>
          </p:cNvPr>
          <p:cNvSpPr txBox="1"/>
          <p:nvPr/>
        </p:nvSpPr>
        <p:spPr>
          <a:xfrm>
            <a:off x="68453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2689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3CC91E6-9848-A979-96CE-E7790CF58B68}"/>
              </a:ext>
            </a:extLst>
          </p:cNvPr>
          <p:cNvSpPr txBox="1"/>
          <p:nvPr/>
        </p:nvSpPr>
        <p:spPr>
          <a:xfrm>
            <a:off x="6489700" y="2794000"/>
            <a:ext cx="1346200" cy="543739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600" b="1">
                <a:solidFill>
                  <a:srgbClr val="162B3A"/>
                </a:solidFill>
                <a:latin typeface="Aptos" panose="020B0004020202020204" pitchFamily="34" charset="0"/>
              </a:rPr>
              <a:t>Classificação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972D5BE-CBF2-408B-ACF5-12A6B9119AA9}"/>
              </a:ext>
            </a:extLst>
          </p:cNvPr>
          <p:cNvSpPr/>
          <p:nvPr/>
        </p:nvSpPr>
        <p:spPr>
          <a:xfrm>
            <a:off x="82169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EFE1B43-A88D-C7BC-86E9-1E3BB0D48D0E}"/>
              </a:ext>
            </a:extLst>
          </p:cNvPr>
          <p:cNvSpPr txBox="1"/>
          <p:nvPr/>
        </p:nvSpPr>
        <p:spPr>
          <a:xfrm>
            <a:off x="87249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E87E42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2C4AC61-0C08-36FA-554F-9D936BEA46BE}"/>
              </a:ext>
            </a:extLst>
          </p:cNvPr>
          <p:cNvSpPr txBox="1"/>
          <p:nvPr/>
        </p:nvSpPr>
        <p:spPr>
          <a:xfrm>
            <a:off x="8369300" y="2794000"/>
            <a:ext cx="1346200" cy="543739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600" b="1">
                <a:solidFill>
                  <a:srgbClr val="162B3A"/>
                </a:solidFill>
                <a:latin typeface="Aptos" panose="020B0004020202020204" pitchFamily="34" charset="0"/>
              </a:rPr>
              <a:t>Clusterização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15A56A8-D75B-8D14-61A9-04279E1DA141}"/>
              </a:ext>
            </a:extLst>
          </p:cNvPr>
          <p:cNvSpPr/>
          <p:nvPr/>
        </p:nvSpPr>
        <p:spPr>
          <a:xfrm>
            <a:off x="100965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9739C04-5753-E89C-D088-81CCE5863AD7}"/>
              </a:ext>
            </a:extLst>
          </p:cNvPr>
          <p:cNvSpPr txBox="1"/>
          <p:nvPr/>
        </p:nvSpPr>
        <p:spPr>
          <a:xfrm>
            <a:off x="106045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589C66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B13426A-F2FD-BA4C-AC57-94BFA40E081B}"/>
              </a:ext>
            </a:extLst>
          </p:cNvPr>
          <p:cNvSpPr txBox="1"/>
          <p:nvPr/>
        </p:nvSpPr>
        <p:spPr>
          <a:xfrm>
            <a:off x="10248900" y="2794000"/>
            <a:ext cx="1346200" cy="78996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600" b="1">
                <a:solidFill>
                  <a:srgbClr val="162B3A"/>
                </a:solidFill>
                <a:latin typeface="Aptos" panose="020B0004020202020204" pitchFamily="34" charset="0"/>
              </a:rPr>
              <a:t>Associação, outliers e storytelling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5862E5A-F66F-9DF9-94DA-31212F62C4CF}"/>
              </a:ext>
            </a:extLst>
          </p:cNvPr>
          <p:cNvSpPr txBox="1"/>
          <p:nvPr/>
        </p:nvSpPr>
        <p:spPr>
          <a:xfrm>
            <a:off x="1143000" y="4572000"/>
            <a:ext cx="9906000" cy="78996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400" b="1">
                <a:solidFill>
                  <a:srgbClr val="162B3A"/>
                </a:solidFill>
                <a:latin typeface="Aptos" panose="020B0004020202020204" pitchFamily="34" charset="0"/>
              </a:rPr>
              <a:t>Pergunta-guia: quais fatores estruturais e qualitativos explicam ou predizem o preço de venda?</a:t>
            </a:r>
          </a:p>
        </p:txBody>
      </p:sp>
    </p:spTree>
    <p:extLst>
      <p:ext uri="{BB962C8B-B14F-4D97-AF65-F5344CB8AC3E}">
        <p14:creationId xmlns:p14="http://schemas.microsoft.com/office/powerpoint/2010/main" val="2313098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8B1E5C4-B91A-7AA2-CA78-F6A0C2C571F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309AF8B-5A0C-0621-B7C1-2F3BBE1CD888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EDA e Preparação dos Dados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3421E7C-C491-584F-F0C4-BB348CE68ED4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Vitor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4240BF5-156D-74F8-6E3B-713E4E32D3BE}"/>
              </a:ext>
            </a:extLst>
          </p:cNvPr>
          <p:cNvSpPr txBox="1"/>
          <p:nvPr/>
        </p:nvSpPr>
        <p:spPr>
          <a:xfrm>
            <a:off x="736600" y="1206500"/>
            <a:ext cx="4953000" cy="2457083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Base original: 1460 linhas e 81 variáveis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Alvo do problema: SalePrice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Tratamento de nulos por mediana/moda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Remoção de outliers em GrLivArea x SalePrice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Normalização de numéricas e One-Hot Encoding de categóricas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CF02E91-60B2-7EAA-CB16-93D4612FF2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5642" y="1783664"/>
            <a:ext cx="2411215" cy="10046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A5EA920-1D3B-FFF9-A65B-4397CE6FC0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1573" y="4464662"/>
            <a:ext cx="1699354" cy="849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240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D59AD9A-6412-DF7D-6CB2-96FE1A1E1A9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3B74336-447E-A6B1-50B0-FA002DA722F1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Feature Engineering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C8B61-5049-5F3C-F789-D85E114F6CC4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Vitor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9F84C69-1BA9-2FBB-3194-0F529E6A69D1}"/>
              </a:ext>
            </a:extLst>
          </p:cNvPr>
          <p:cNvSpPr txBox="1"/>
          <p:nvPr/>
        </p:nvSpPr>
        <p:spPr>
          <a:xfrm>
            <a:off x="787400" y="1270000"/>
            <a:ext cx="5461000" cy="3334246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TotalSF: área total combinando porão e pavimentos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TotalBathrooms: banheiros completos e lavabos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HouseAge e YearsSinceRemodel: idade e atualização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HasGarage, HasBasement, HasFireplace e HasPool: atributos estruturais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Base processada final: 1458 linhas x 298 colunas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3C3930-4055-0DA6-04AE-0AF12567DD3E}"/>
              </a:ext>
            </a:extLst>
          </p:cNvPr>
          <p:cNvSpPr/>
          <p:nvPr/>
        </p:nvSpPr>
        <p:spPr>
          <a:xfrm>
            <a:off x="6858000" y="1460500"/>
            <a:ext cx="3937000" cy="28575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E01099E-4456-2D6F-4E14-4507BA66B4EC}"/>
              </a:ext>
            </a:extLst>
          </p:cNvPr>
          <p:cNvSpPr txBox="1"/>
          <p:nvPr/>
        </p:nvSpPr>
        <p:spPr>
          <a:xfrm>
            <a:off x="7239000" y="1841500"/>
            <a:ext cx="3175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400" b="1">
                <a:solidFill>
                  <a:srgbClr val="162B3A"/>
                </a:solidFill>
                <a:latin typeface="Aptos" panose="020B0004020202020204" pitchFamily="34" charset="0"/>
              </a:rPr>
              <a:t>Por que isso importa?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031DF16-8B8C-98D8-2C17-84404222E5D2}"/>
              </a:ext>
            </a:extLst>
          </p:cNvPr>
          <p:cNvSpPr txBox="1"/>
          <p:nvPr/>
        </p:nvSpPr>
        <p:spPr>
          <a:xfrm>
            <a:off x="7302500" y="2603500"/>
            <a:ext cx="3048000" cy="193899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As novas variáveis condensam sinais imobiliários: tamanho, conforto, idade, conservação e estruturas valorizadas.</a:t>
            </a:r>
          </a:p>
        </p:txBody>
      </p:sp>
    </p:spTree>
    <p:extLst>
      <p:ext uri="{BB962C8B-B14F-4D97-AF65-F5344CB8AC3E}">
        <p14:creationId xmlns:p14="http://schemas.microsoft.com/office/powerpoint/2010/main" val="2928571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8D6E77A-4332-7C9C-E565-5BE9CABDF445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D47FA75-E55F-D494-FCEB-0B2897D64D60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Regressão: Prever o Preço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6AFA3D9-0E3A-2979-9BD4-58743D42E8A7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Luis Felipe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B9E5A1B-120C-F276-A26C-CAB588B17B9E}"/>
              </a:ext>
            </a:extLst>
          </p:cNvPr>
          <p:cNvSpPr/>
          <p:nvPr/>
        </p:nvSpPr>
        <p:spPr>
          <a:xfrm>
            <a:off x="762000" y="1270000"/>
            <a:ext cx="2159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1C35190-9D6F-99D8-A37A-85CBA2E87D38}"/>
              </a:ext>
            </a:extLst>
          </p:cNvPr>
          <p:cNvSpPr txBox="1"/>
          <p:nvPr/>
        </p:nvSpPr>
        <p:spPr>
          <a:xfrm>
            <a:off x="889000" y="1384300"/>
            <a:ext cx="1905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E87E42"/>
                </a:solidFill>
                <a:latin typeface="Aptos" panose="020B0004020202020204" pitchFamily="34" charset="0"/>
              </a:rPr>
              <a:t>0,492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3561F24-EFB1-CA2F-C882-6CF1BBC8A6D1}"/>
              </a:ext>
            </a:extLst>
          </p:cNvPr>
          <p:cNvSpPr txBox="1"/>
          <p:nvPr/>
        </p:nvSpPr>
        <p:spPr>
          <a:xfrm>
            <a:off x="889000" y="1892300"/>
            <a:ext cx="1905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 simples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41F216F-121A-9FD8-CEB1-8CA7C06BB9DD}"/>
              </a:ext>
            </a:extLst>
          </p:cNvPr>
          <p:cNvSpPr/>
          <p:nvPr/>
        </p:nvSpPr>
        <p:spPr>
          <a:xfrm>
            <a:off x="3175000" y="1270000"/>
            <a:ext cx="2159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42E93ED-8E10-A708-3A1D-8CF6C13FF8CA}"/>
              </a:ext>
            </a:extLst>
          </p:cNvPr>
          <p:cNvSpPr txBox="1"/>
          <p:nvPr/>
        </p:nvSpPr>
        <p:spPr>
          <a:xfrm>
            <a:off x="3302000" y="1384300"/>
            <a:ext cx="1905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0,817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B135920-C4FB-9B47-2AFB-1093B1354332}"/>
              </a:ext>
            </a:extLst>
          </p:cNvPr>
          <p:cNvSpPr txBox="1"/>
          <p:nvPr/>
        </p:nvSpPr>
        <p:spPr>
          <a:xfrm>
            <a:off x="3302000" y="1892300"/>
            <a:ext cx="1905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 múltipla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556EB7A-D80E-D30D-18CA-AAB05856BA80}"/>
              </a:ext>
            </a:extLst>
          </p:cNvPr>
          <p:cNvSpPr txBox="1"/>
          <p:nvPr/>
        </p:nvSpPr>
        <p:spPr>
          <a:xfrm>
            <a:off x="762000" y="2921000"/>
            <a:ext cx="4572000" cy="1982594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Modelo simples: GrLivArea -&gt; SalePrice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Modelo múltiplo: top 10 features por correlação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TotalSF e TotalBathrooms aparecem entre os principais preditores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Métricas: MAE, RMSE e R²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28B5F3D0-D46C-2E77-7CF5-DCE0DAB226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7089" y="1955960"/>
            <a:ext cx="2223822" cy="736279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942006B-F15D-9255-A619-C94EB96F3C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056" y="4447334"/>
            <a:ext cx="2119888" cy="82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234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5F1BC9D-DE24-A4B9-E7BD-1477337BD87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123EF5F-2C72-F644-29C2-E2BFB1652546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Classificação: Casa Cara ou Barata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D1651D7-3630-3615-13B6-185BBA89893A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Emanuel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60366E2-3442-6394-5529-98686F9E7A8A}"/>
              </a:ext>
            </a:extLst>
          </p:cNvPr>
          <p:cNvSpPr txBox="1"/>
          <p:nvPr/>
        </p:nvSpPr>
        <p:spPr>
          <a:xfrm>
            <a:off x="762000" y="1206500"/>
            <a:ext cx="4953000" cy="265970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SalePrice convertido em classe binária pela mediana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0 = abaixo da mediana; 1 = acima da mediana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Modelos: Regressão Logística e Random Forest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Métricas: Accuracy, Precision, Recall, F1 e matriz de confusão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0A0C32E-762F-9D8B-A72C-5B63585799D5}"/>
              </a:ext>
            </a:extLst>
          </p:cNvPr>
          <p:cNvSpPr/>
          <p:nvPr/>
        </p:nvSpPr>
        <p:spPr>
          <a:xfrm>
            <a:off x="889000" y="4381500"/>
            <a:ext cx="22225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7A1C645-D86F-DCB4-83CF-E2F7D9B6640E}"/>
              </a:ext>
            </a:extLst>
          </p:cNvPr>
          <p:cNvSpPr txBox="1"/>
          <p:nvPr/>
        </p:nvSpPr>
        <p:spPr>
          <a:xfrm>
            <a:off x="1016000" y="4495800"/>
            <a:ext cx="19685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92,1%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2D71B04-DB11-3AD5-27DD-92069D631E9D}"/>
              </a:ext>
            </a:extLst>
          </p:cNvPr>
          <p:cNvSpPr txBox="1"/>
          <p:nvPr/>
        </p:nvSpPr>
        <p:spPr>
          <a:xfrm>
            <a:off x="1016000" y="5003800"/>
            <a:ext cx="19685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Accuracy Reg. Logística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7C92D4-E522-658B-04F8-0B6669863214}"/>
              </a:ext>
            </a:extLst>
          </p:cNvPr>
          <p:cNvSpPr/>
          <p:nvPr/>
        </p:nvSpPr>
        <p:spPr>
          <a:xfrm>
            <a:off x="3429000" y="4381500"/>
            <a:ext cx="22225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AFD468E-20B5-F1EB-BD11-C86116A1EE14}"/>
              </a:ext>
            </a:extLst>
          </p:cNvPr>
          <p:cNvSpPr txBox="1"/>
          <p:nvPr/>
        </p:nvSpPr>
        <p:spPr>
          <a:xfrm>
            <a:off x="3556000" y="4495800"/>
            <a:ext cx="19685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0,922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9527D2E-CE83-ECE8-9D6A-497A4754830F}"/>
              </a:ext>
            </a:extLst>
          </p:cNvPr>
          <p:cNvSpPr txBox="1"/>
          <p:nvPr/>
        </p:nvSpPr>
        <p:spPr>
          <a:xfrm>
            <a:off x="3556000" y="5003800"/>
            <a:ext cx="19685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F1 Reg. Logística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76106AE4-DDD9-78A9-F0EC-767417E00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9460" y="1854528"/>
            <a:ext cx="1933080" cy="78674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6ECCED9C-9422-85ED-D78F-381E3C0318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2933" y="4426465"/>
            <a:ext cx="1986135" cy="86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176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9503240-B81A-59E8-9BFF-5EF911C35A23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BF21CD9-D268-394F-C748-AFC1B7A5E69E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Clusterização e Redução de Dimensionalidade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76876E-2B55-4D5E-FAF5-E188623617A1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Rogeres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E01CAC-1E17-EE77-515D-81A9A13E0452}"/>
              </a:ext>
            </a:extLst>
          </p:cNvPr>
          <p:cNvSpPr txBox="1"/>
          <p:nvPr/>
        </p:nvSpPr>
        <p:spPr>
          <a:xfrm>
            <a:off x="635000" y="1168400"/>
            <a:ext cx="4953000" cy="262636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K-Means para perfis de imóveis sem usar preço no treino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Elbow Method apoiou a escolha de k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PCA e t-SNE para visualização em 2D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PCA explicou 29,5% da variância nas duas primeiras componentes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Silhouette Score: 0,1520, positivo mas com sobreposição natural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B3A50C3-5087-571C-2ABD-4B3A5D3291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8709" y="2720059"/>
            <a:ext cx="2064081" cy="59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8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00B01BE-0E54-E6F4-E632-F821F428F06B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B357B2F-978B-8E20-53A1-9E18B638C534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Associação e Outliers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413760F-5764-E507-511A-7664010C8C53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Alessandro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D43B73-3EC5-B513-3ABC-F904D4CE857F}"/>
              </a:ext>
            </a:extLst>
          </p:cNvPr>
          <p:cNvSpPr txBox="1"/>
          <p:nvPr/>
        </p:nvSpPr>
        <p:spPr>
          <a:xfrm>
            <a:off x="698500" y="1168400"/>
            <a:ext cx="5016500" cy="262636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Apriori exigiu binarização em tags interpretáveis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Regras avaliadas por suporte, confiança e lift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Associações fortes envolvem casas grandes, bairros premium e garagens maiores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LOF identificou 73 outliers, cerca de 5% da base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Outliers ajudam a entender casos extremos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963736-6F79-0DED-8B6A-7FF98787C6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854" y="2646166"/>
            <a:ext cx="1910293" cy="74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53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689A4C5-9ABE-BFE9-132A-102C92C5ECF5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FF1B0FE-AE5A-9E1B-3737-175EF100EB2F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Notebook 06: Resultados Consolidados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EDC3378-647B-E7C4-A12A-6266A964B90F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Natalia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1DB72EC-6131-A713-E0DB-B29CE4691885}"/>
              </a:ext>
            </a:extLst>
          </p:cNvPr>
          <p:cNvSpPr txBox="1"/>
          <p:nvPr/>
        </p:nvSpPr>
        <p:spPr>
          <a:xfrm>
            <a:off x="685800" y="1168400"/>
            <a:ext cx="4445000" cy="318035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Nova seção reúne os resultados dos modelos em painéis visuais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Supervisionados: regressão e classificação no mesmo fluxo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Não supervisionados: clusters, PCA/t-SNE e perfis médios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Associação e outliers: Apriori e LOF em visão consolidada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Placeholders removidos e conclusão executiva atualizada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869CB4F-30D5-58F4-0C2E-AFAEA1613D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9588" y="1795675"/>
            <a:ext cx="2223824" cy="63775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8C2AB76-27B6-65E4-5B12-0445C9C3F8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12" y="4423363"/>
            <a:ext cx="1041976" cy="60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991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6D25A27-2BDF-148A-8D85-5C41DECE5B7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C96A9D2-C4C1-758C-105B-F92F8FB0A442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Visualização e Storytelling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6ADCF12-1C7F-9EB1-38B7-500B90DE0DE0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Natalia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5A3445B-AF67-C2CC-1FAC-6FDBAED97B45}"/>
              </a:ext>
            </a:extLst>
          </p:cNvPr>
          <p:cNvSpPr txBox="1"/>
          <p:nvPr/>
        </p:nvSpPr>
        <p:spPr>
          <a:xfrm>
            <a:off x="736600" y="1206500"/>
            <a:ext cx="4699000" cy="3334246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Distribuições mostram assimetria à direita em SalePrice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Heatmap confirma variáveis ligadas ao preço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Scatter e boxplot reforçam impacto de área e qualidade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Parte 5 conecta modelos supervisionados, clusters, Apriori e LOF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Conclusão final sintetiza o raciocínio analítico do projeto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47BC0D9-9BA1-A992-5F83-82E2CAB5F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5987" y="1797990"/>
            <a:ext cx="1132026" cy="849019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9C760CB-6477-A97E-844E-FC4EA9A83AFF}"/>
              </a:ext>
            </a:extLst>
          </p:cNvPr>
          <p:cNvSpPr txBox="1"/>
          <p:nvPr/>
        </p:nvSpPr>
        <p:spPr>
          <a:xfrm>
            <a:off x="1079500" y="4953000"/>
            <a:ext cx="9779000" cy="78996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400" b="1">
                <a:solidFill>
                  <a:srgbClr val="162B3A"/>
                </a:solidFill>
                <a:latin typeface="Aptos" panose="020B0004020202020204" pitchFamily="34" charset="0"/>
              </a:rPr>
              <a:t>Mensagem central: preço é resultado da combinação entre tamanho, qualidade, estrutura e idade do imóvel.</a:t>
            </a:r>
          </a:p>
        </p:txBody>
      </p:sp>
    </p:spTree>
    <p:extLst>
      <p:ext uri="{BB962C8B-B14F-4D97-AF65-F5344CB8AC3E}">
        <p14:creationId xmlns:p14="http://schemas.microsoft.com/office/powerpoint/2010/main" val="1732430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1E21C59-2B8D-5FDD-E4D0-D12A32AAA2DB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1062F94-EB54-AC2F-0FA6-2AAC64060E78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Conclusões Principais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A3EED4D-B26B-AAA2-4759-9D52CEAB912F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fechamento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AEF8214-2F7C-FAF9-A62F-ADC588DB25CA}"/>
              </a:ext>
            </a:extLst>
          </p:cNvPr>
          <p:cNvSpPr/>
          <p:nvPr/>
        </p:nvSpPr>
        <p:spPr>
          <a:xfrm>
            <a:off x="825500" y="1206500"/>
            <a:ext cx="2413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46CB7F-AFE9-EA55-57D2-D3C6BF48E9A1}"/>
              </a:ext>
            </a:extLst>
          </p:cNvPr>
          <p:cNvSpPr txBox="1"/>
          <p:nvPr/>
        </p:nvSpPr>
        <p:spPr>
          <a:xfrm>
            <a:off x="952500" y="1320800"/>
            <a:ext cx="2159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1458 x 298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7BB13B-285B-7AE7-3B13-A2EDD3394139}"/>
              </a:ext>
            </a:extLst>
          </p:cNvPr>
          <p:cNvSpPr txBox="1"/>
          <p:nvPr/>
        </p:nvSpPr>
        <p:spPr>
          <a:xfrm>
            <a:off x="952500" y="1828800"/>
            <a:ext cx="2159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base final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D78A3E9-0FD7-107A-1B7E-7CC35DB9F705}"/>
              </a:ext>
            </a:extLst>
          </p:cNvPr>
          <p:cNvSpPr/>
          <p:nvPr/>
        </p:nvSpPr>
        <p:spPr>
          <a:xfrm>
            <a:off x="3619500" y="1206500"/>
            <a:ext cx="2159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E20507-2D97-8625-B948-F30DB694D7FB}"/>
              </a:ext>
            </a:extLst>
          </p:cNvPr>
          <p:cNvSpPr txBox="1"/>
          <p:nvPr/>
        </p:nvSpPr>
        <p:spPr>
          <a:xfrm>
            <a:off x="3746500" y="1320800"/>
            <a:ext cx="1905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0,817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AFB2F76-967A-C391-BBED-59B433029B76}"/>
              </a:ext>
            </a:extLst>
          </p:cNvPr>
          <p:cNvSpPr txBox="1"/>
          <p:nvPr/>
        </p:nvSpPr>
        <p:spPr>
          <a:xfrm>
            <a:off x="3746500" y="1828800"/>
            <a:ext cx="1905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035FE86-4205-F7AF-84B4-339E93D8655E}"/>
              </a:ext>
            </a:extLst>
          </p:cNvPr>
          <p:cNvSpPr/>
          <p:nvPr/>
        </p:nvSpPr>
        <p:spPr>
          <a:xfrm>
            <a:off x="6159500" y="1206500"/>
            <a:ext cx="2413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9B8A78F-037B-5E34-A945-73A5B84C29C8}"/>
              </a:ext>
            </a:extLst>
          </p:cNvPr>
          <p:cNvSpPr txBox="1"/>
          <p:nvPr/>
        </p:nvSpPr>
        <p:spPr>
          <a:xfrm>
            <a:off x="6286500" y="1320800"/>
            <a:ext cx="2159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E87E42"/>
                </a:solidFill>
                <a:latin typeface="Aptos" panose="020B0004020202020204" pitchFamily="34" charset="0"/>
              </a:rPr>
              <a:t>92,1%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D131BDF-090A-064E-997F-09D635C45F85}"/>
              </a:ext>
            </a:extLst>
          </p:cNvPr>
          <p:cNvSpPr txBox="1"/>
          <p:nvPr/>
        </p:nvSpPr>
        <p:spPr>
          <a:xfrm>
            <a:off x="6286500" y="1828800"/>
            <a:ext cx="2159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accuracy classificação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6AA23136-DA42-8DE8-0496-1240AA72C649}"/>
              </a:ext>
            </a:extLst>
          </p:cNvPr>
          <p:cNvSpPr/>
          <p:nvPr/>
        </p:nvSpPr>
        <p:spPr>
          <a:xfrm>
            <a:off x="8953500" y="1206500"/>
            <a:ext cx="1905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7C57086-39CA-8B66-BFC4-72FC1E57C6D7}"/>
              </a:ext>
            </a:extLst>
          </p:cNvPr>
          <p:cNvSpPr txBox="1"/>
          <p:nvPr/>
        </p:nvSpPr>
        <p:spPr>
          <a:xfrm>
            <a:off x="9080500" y="1320800"/>
            <a:ext cx="1651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73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83B4C74-12F3-E837-4946-E3BE783BD4CB}"/>
              </a:ext>
            </a:extLst>
          </p:cNvPr>
          <p:cNvSpPr txBox="1"/>
          <p:nvPr/>
        </p:nvSpPr>
        <p:spPr>
          <a:xfrm>
            <a:off x="9080500" y="1828800"/>
            <a:ext cx="1651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outliers LOF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E3FFDBB-A342-5F20-2AAB-415AF76589F5}"/>
              </a:ext>
            </a:extLst>
          </p:cNvPr>
          <p:cNvSpPr txBox="1"/>
          <p:nvPr/>
        </p:nvSpPr>
        <p:spPr>
          <a:xfrm>
            <a:off x="1333500" y="3175000"/>
            <a:ext cx="9525000" cy="194925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Todos os critérios técnicos foram contemplados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Notebook 06 agora inclui gráficos consolidados dos modelos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Storytelling foi atualizado sem placeholders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Feature engineering aparece nos modelos e na interpretação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O preço é explicado por tamanho, qualidade, estrutura, idade e conservação</a:t>
            </a:r>
          </a:p>
        </p:txBody>
      </p:sp>
    </p:spTree>
    <p:extLst>
      <p:ext uri="{BB962C8B-B14F-4D97-AF65-F5344CB8AC3E}">
        <p14:creationId xmlns:p14="http://schemas.microsoft.com/office/powerpoint/2010/main" val="1271464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369DB67-E63D-5047-FDBA-561FDA1F5F25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A15CA40-A736-94AB-A3CF-9D7F822135AA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Perguntas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594C998-712B-0F17-A442-6AB2C6E43282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obrigado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C696AA7-4994-0A0F-D027-E4A185426927}"/>
              </a:ext>
            </a:extLst>
          </p:cNvPr>
          <p:cNvSpPr txBox="1"/>
          <p:nvPr/>
        </p:nvSpPr>
        <p:spPr>
          <a:xfrm>
            <a:off x="1016000" y="1841500"/>
            <a:ext cx="10160000" cy="72840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4400" b="1">
                <a:solidFill>
                  <a:srgbClr val="162B3A"/>
                </a:solidFill>
                <a:latin typeface="Aptos" panose="020B0004020202020204" pitchFamily="34" charset="0"/>
              </a:rPr>
              <a:t>Obrigado!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B249FE1-7FED-FEBC-6038-574EC5ED85D2}"/>
              </a:ext>
            </a:extLst>
          </p:cNvPr>
          <p:cNvSpPr txBox="1"/>
          <p:nvPr/>
        </p:nvSpPr>
        <p:spPr>
          <a:xfrm>
            <a:off x="1651000" y="3048000"/>
            <a:ext cx="8890000" cy="482183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800">
                <a:solidFill>
                  <a:srgbClr val="585F69"/>
                </a:solidFill>
                <a:latin typeface="Aptos" panose="020B0004020202020204" pitchFamily="34" charset="0"/>
              </a:rPr>
              <a:t>Estamos à disposição para perguntas.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63A1A4B-89A2-14BC-731F-5E38F6442C40}"/>
              </a:ext>
            </a:extLst>
          </p:cNvPr>
          <p:cNvSpPr/>
          <p:nvPr/>
        </p:nvSpPr>
        <p:spPr>
          <a:xfrm>
            <a:off x="2794000" y="4381500"/>
            <a:ext cx="6604000" cy="736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DF51E2E-7B61-D88D-10E3-EDDA3A16A633}"/>
              </a:ext>
            </a:extLst>
          </p:cNvPr>
          <p:cNvSpPr txBox="1"/>
          <p:nvPr/>
        </p:nvSpPr>
        <p:spPr>
          <a:xfrm>
            <a:off x="3111500" y="4521200"/>
            <a:ext cx="5969000" cy="482183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>
                <a:solidFill>
                  <a:srgbClr val="1E2227"/>
                </a:solidFill>
                <a:latin typeface="Aptos" panose="020B0004020202020204" pitchFamily="34" charset="0"/>
              </a:rPr>
              <a:t>Resposta rápida: Silhouette baixo é esperado em dados imobiliários com sobreposição, mas os clusters ainda têm perfis médios interpretáveis.</a:t>
            </a:r>
          </a:p>
        </p:txBody>
      </p:sp>
    </p:spTree>
    <p:extLst>
      <p:ext uri="{BB962C8B-B14F-4D97-AF65-F5344CB8AC3E}">
        <p14:creationId xmlns:p14="http://schemas.microsoft.com/office/powerpoint/2010/main" val="41658854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874</Words>
  <Application>Microsoft Office PowerPoint</Application>
  <PresentationFormat>Personalizar</PresentationFormat>
  <Paragraphs>152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Vitor Dornela Mascarenhas</dc:creator>
  <cp:lastModifiedBy>Vitor Dornela Mascarenhas</cp:lastModifiedBy>
  <cp:revision>1</cp:revision>
  <dcterms:created xsi:type="dcterms:W3CDTF">2026-06-17T19:50:39Z</dcterms:created>
  <dcterms:modified xsi:type="dcterms:W3CDTF">2026-06-17T19:50:39Z</dcterms:modified>
</cp:coreProperties>
</file>